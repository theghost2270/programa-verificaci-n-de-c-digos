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724" r:id="rId1"/>
  </p:sldMasterIdLst>
  <p:notesMasterIdLst>
    <p:notesMasterId r:id="rId13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1"/>
    <p:restoredTop sz="94694"/>
  </p:normalViewPr>
  <p:slideViewPr>
    <p:cSldViewPr snapToGrid="0">
      <p:cViewPr varScale="1">
        <p:scale>
          <a:sx n="121" d="100"/>
          <a:sy n="121" d="100"/>
        </p:scale>
        <p:origin x="744" y="1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AF7A91DF-66B3-40FF-9813-3C2F5458B907}" type="doc">
      <dgm:prSet loTypeId="urn:microsoft.com/office/officeart/2005/8/layout/vList2" loCatId="list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en-US"/>
        </a:p>
      </dgm:t>
    </dgm:pt>
    <dgm:pt modelId="{F47514E4-48CE-4510-9D60-D3286B079B40}">
      <dgm:prSet/>
      <dgm:spPr/>
      <dgm:t>
        <a:bodyPr/>
        <a:lstStyle/>
        <a:p>
          <a:r>
            <a:rPr lang="es-MX"/>
            <a:t>Ejemplo:</a:t>
          </a:r>
          <a:endParaRPr lang="en-US"/>
        </a:p>
      </dgm:t>
    </dgm:pt>
    <dgm:pt modelId="{6380E4EA-1E08-4A05-AA0C-267647970A06}" type="parTrans" cxnId="{EBE53460-99AC-46FB-96D8-C05A1B47BECF}">
      <dgm:prSet/>
      <dgm:spPr/>
      <dgm:t>
        <a:bodyPr/>
        <a:lstStyle/>
        <a:p>
          <a:endParaRPr lang="en-US"/>
        </a:p>
      </dgm:t>
    </dgm:pt>
    <dgm:pt modelId="{C3940E4B-9511-41AE-B649-A29F988EBC5C}" type="sibTrans" cxnId="{EBE53460-99AC-46FB-96D8-C05A1B47BECF}">
      <dgm:prSet/>
      <dgm:spPr/>
      <dgm:t>
        <a:bodyPr/>
        <a:lstStyle/>
        <a:p>
          <a:endParaRPr lang="en-US"/>
        </a:p>
      </dgm:t>
    </dgm:pt>
    <dgm:pt modelId="{5F1D02F5-4D70-4E71-854D-ADEF4E36694E}">
      <dgm:prSet/>
      <dgm:spPr/>
      <dgm:t>
        <a:bodyPr/>
        <a:lstStyle/>
        <a:p>
          <a:r>
            <a:rPr lang="es-MX"/>
            <a:t>Frontend → Web o App móvil </a:t>
          </a:r>
          <a:endParaRPr lang="en-US"/>
        </a:p>
      </dgm:t>
    </dgm:pt>
    <dgm:pt modelId="{E3B9C38A-FEA5-4F73-A2FC-F5EC33550789}" type="parTrans" cxnId="{1120E625-F8CC-44B9-9664-7929CC38D009}">
      <dgm:prSet/>
      <dgm:spPr/>
      <dgm:t>
        <a:bodyPr/>
        <a:lstStyle/>
        <a:p>
          <a:endParaRPr lang="en-US"/>
        </a:p>
      </dgm:t>
    </dgm:pt>
    <dgm:pt modelId="{BD5783D4-B13C-479E-8F4B-8A71EF118167}" type="sibTrans" cxnId="{1120E625-F8CC-44B9-9664-7929CC38D009}">
      <dgm:prSet/>
      <dgm:spPr/>
      <dgm:t>
        <a:bodyPr/>
        <a:lstStyle/>
        <a:p>
          <a:endParaRPr lang="en-US"/>
        </a:p>
      </dgm:t>
    </dgm:pt>
    <dgm:pt modelId="{0BD31A14-FE67-4B0A-9156-B01823E2B585}">
      <dgm:prSet/>
      <dgm:spPr/>
      <dgm:t>
        <a:bodyPr/>
        <a:lstStyle/>
        <a:p>
          <a:r>
            <a:rPr lang="es-MX"/>
            <a:t>Backend → API REST </a:t>
          </a:r>
          <a:endParaRPr lang="en-US"/>
        </a:p>
      </dgm:t>
    </dgm:pt>
    <dgm:pt modelId="{FD65C566-3D64-406B-97A1-C7188320E284}" type="parTrans" cxnId="{EC346A98-5D54-4711-81BE-0C32A4F65E40}">
      <dgm:prSet/>
      <dgm:spPr/>
      <dgm:t>
        <a:bodyPr/>
        <a:lstStyle/>
        <a:p>
          <a:endParaRPr lang="en-US"/>
        </a:p>
      </dgm:t>
    </dgm:pt>
    <dgm:pt modelId="{83E91A8B-0689-4ED6-AD27-87167E2AA24D}" type="sibTrans" cxnId="{EC346A98-5D54-4711-81BE-0C32A4F65E40}">
      <dgm:prSet/>
      <dgm:spPr/>
      <dgm:t>
        <a:bodyPr/>
        <a:lstStyle/>
        <a:p>
          <a:endParaRPr lang="en-US"/>
        </a:p>
      </dgm:t>
    </dgm:pt>
    <dgm:pt modelId="{2B43A0CF-EDB6-4936-A503-C7F9794552B1}">
      <dgm:prSet/>
      <dgm:spPr/>
      <dgm:t>
        <a:bodyPr/>
        <a:lstStyle/>
        <a:p>
          <a:r>
            <a:rPr lang="es-MX"/>
            <a:t>Base de datos → SQL o NoSQL</a:t>
          </a:r>
          <a:endParaRPr lang="en-US"/>
        </a:p>
      </dgm:t>
    </dgm:pt>
    <dgm:pt modelId="{AD48E5A4-3F9E-4F51-AB26-A8CC4CEF227D}" type="parTrans" cxnId="{F355E4F6-15C9-4944-874E-09288877D5A5}">
      <dgm:prSet/>
      <dgm:spPr/>
      <dgm:t>
        <a:bodyPr/>
        <a:lstStyle/>
        <a:p>
          <a:endParaRPr lang="en-US"/>
        </a:p>
      </dgm:t>
    </dgm:pt>
    <dgm:pt modelId="{18077F88-4B9D-4759-ABA1-F202C3F535E4}" type="sibTrans" cxnId="{F355E4F6-15C9-4944-874E-09288877D5A5}">
      <dgm:prSet/>
      <dgm:spPr/>
      <dgm:t>
        <a:bodyPr/>
        <a:lstStyle/>
        <a:p>
          <a:endParaRPr lang="en-US"/>
        </a:p>
      </dgm:t>
    </dgm:pt>
    <dgm:pt modelId="{8D419C7C-C28D-5A42-9C43-2CE860494D48}" type="pres">
      <dgm:prSet presAssocID="{AF7A91DF-66B3-40FF-9813-3C2F5458B907}" presName="linear" presStyleCnt="0">
        <dgm:presLayoutVars>
          <dgm:animLvl val="lvl"/>
          <dgm:resizeHandles val="exact"/>
        </dgm:presLayoutVars>
      </dgm:prSet>
      <dgm:spPr/>
    </dgm:pt>
    <dgm:pt modelId="{43905666-119D-D049-920C-99D67A82A2FD}" type="pres">
      <dgm:prSet presAssocID="{F47514E4-48CE-4510-9D60-D3286B079B40}" presName="parentText" presStyleLbl="node1" presStyleIdx="0" presStyleCnt="4">
        <dgm:presLayoutVars>
          <dgm:chMax val="0"/>
          <dgm:bulletEnabled val="1"/>
        </dgm:presLayoutVars>
      </dgm:prSet>
      <dgm:spPr/>
    </dgm:pt>
    <dgm:pt modelId="{293AF2BA-9EDF-5144-8DEC-AC2FB899E404}" type="pres">
      <dgm:prSet presAssocID="{C3940E4B-9511-41AE-B649-A29F988EBC5C}" presName="spacer" presStyleCnt="0"/>
      <dgm:spPr/>
    </dgm:pt>
    <dgm:pt modelId="{2FA9BC22-8FDE-6B40-8436-9AD6DFBFE87F}" type="pres">
      <dgm:prSet presAssocID="{5F1D02F5-4D70-4E71-854D-ADEF4E36694E}" presName="parentText" presStyleLbl="node1" presStyleIdx="1" presStyleCnt="4">
        <dgm:presLayoutVars>
          <dgm:chMax val="0"/>
          <dgm:bulletEnabled val="1"/>
        </dgm:presLayoutVars>
      </dgm:prSet>
      <dgm:spPr/>
    </dgm:pt>
    <dgm:pt modelId="{31D471A4-1352-3C44-95B8-8C638E391BF0}" type="pres">
      <dgm:prSet presAssocID="{BD5783D4-B13C-479E-8F4B-8A71EF118167}" presName="spacer" presStyleCnt="0"/>
      <dgm:spPr/>
    </dgm:pt>
    <dgm:pt modelId="{AA8EB940-F962-9043-9D77-4E85AC6E4515}" type="pres">
      <dgm:prSet presAssocID="{0BD31A14-FE67-4B0A-9156-B01823E2B585}" presName="parentText" presStyleLbl="node1" presStyleIdx="2" presStyleCnt="4">
        <dgm:presLayoutVars>
          <dgm:chMax val="0"/>
          <dgm:bulletEnabled val="1"/>
        </dgm:presLayoutVars>
      </dgm:prSet>
      <dgm:spPr/>
    </dgm:pt>
    <dgm:pt modelId="{7FBC4133-276C-B943-8157-253978871DAB}" type="pres">
      <dgm:prSet presAssocID="{83E91A8B-0689-4ED6-AD27-87167E2AA24D}" presName="spacer" presStyleCnt="0"/>
      <dgm:spPr/>
    </dgm:pt>
    <dgm:pt modelId="{BC01CDF1-2842-6E41-8117-5E2182C9B16E}" type="pres">
      <dgm:prSet presAssocID="{2B43A0CF-EDB6-4936-A503-C7F9794552B1}" presName="parentText" presStyleLbl="node1" presStyleIdx="3" presStyleCnt="4">
        <dgm:presLayoutVars>
          <dgm:chMax val="0"/>
          <dgm:bulletEnabled val="1"/>
        </dgm:presLayoutVars>
      </dgm:prSet>
      <dgm:spPr/>
    </dgm:pt>
  </dgm:ptLst>
  <dgm:cxnLst>
    <dgm:cxn modelId="{7EB8AF1E-6A2C-1140-B9C3-2C01047F6860}" type="presOf" srcId="{0BD31A14-FE67-4B0A-9156-B01823E2B585}" destId="{AA8EB940-F962-9043-9D77-4E85AC6E4515}" srcOrd="0" destOrd="0" presId="urn:microsoft.com/office/officeart/2005/8/layout/vList2"/>
    <dgm:cxn modelId="{1120E625-F8CC-44B9-9664-7929CC38D009}" srcId="{AF7A91DF-66B3-40FF-9813-3C2F5458B907}" destId="{5F1D02F5-4D70-4E71-854D-ADEF4E36694E}" srcOrd="1" destOrd="0" parTransId="{E3B9C38A-FEA5-4F73-A2FC-F5EC33550789}" sibTransId="{BD5783D4-B13C-479E-8F4B-8A71EF118167}"/>
    <dgm:cxn modelId="{21DBAA5F-5F6A-8342-87BF-54D2539CE40F}" type="presOf" srcId="{2B43A0CF-EDB6-4936-A503-C7F9794552B1}" destId="{BC01CDF1-2842-6E41-8117-5E2182C9B16E}" srcOrd="0" destOrd="0" presId="urn:microsoft.com/office/officeart/2005/8/layout/vList2"/>
    <dgm:cxn modelId="{EBE53460-99AC-46FB-96D8-C05A1B47BECF}" srcId="{AF7A91DF-66B3-40FF-9813-3C2F5458B907}" destId="{F47514E4-48CE-4510-9D60-D3286B079B40}" srcOrd="0" destOrd="0" parTransId="{6380E4EA-1E08-4A05-AA0C-267647970A06}" sibTransId="{C3940E4B-9511-41AE-B649-A29F988EBC5C}"/>
    <dgm:cxn modelId="{DE247C81-FD82-3B4D-997E-C6FB9A3199DD}" type="presOf" srcId="{AF7A91DF-66B3-40FF-9813-3C2F5458B907}" destId="{8D419C7C-C28D-5A42-9C43-2CE860494D48}" srcOrd="0" destOrd="0" presId="urn:microsoft.com/office/officeart/2005/8/layout/vList2"/>
    <dgm:cxn modelId="{EC346A98-5D54-4711-81BE-0C32A4F65E40}" srcId="{AF7A91DF-66B3-40FF-9813-3C2F5458B907}" destId="{0BD31A14-FE67-4B0A-9156-B01823E2B585}" srcOrd="2" destOrd="0" parTransId="{FD65C566-3D64-406B-97A1-C7188320E284}" sibTransId="{83E91A8B-0689-4ED6-AD27-87167E2AA24D}"/>
    <dgm:cxn modelId="{E2FE86A8-F313-6643-AFCC-FDE4AB231850}" type="presOf" srcId="{F47514E4-48CE-4510-9D60-D3286B079B40}" destId="{43905666-119D-D049-920C-99D67A82A2FD}" srcOrd="0" destOrd="0" presId="urn:microsoft.com/office/officeart/2005/8/layout/vList2"/>
    <dgm:cxn modelId="{B9129DBE-FA14-AB44-960A-CB7DA7B2AB50}" type="presOf" srcId="{5F1D02F5-4D70-4E71-854D-ADEF4E36694E}" destId="{2FA9BC22-8FDE-6B40-8436-9AD6DFBFE87F}" srcOrd="0" destOrd="0" presId="urn:microsoft.com/office/officeart/2005/8/layout/vList2"/>
    <dgm:cxn modelId="{F355E4F6-15C9-4944-874E-09288877D5A5}" srcId="{AF7A91DF-66B3-40FF-9813-3C2F5458B907}" destId="{2B43A0CF-EDB6-4936-A503-C7F9794552B1}" srcOrd="3" destOrd="0" parTransId="{AD48E5A4-3F9E-4F51-AB26-A8CC4CEF227D}" sibTransId="{18077F88-4B9D-4759-ABA1-F202C3F535E4}"/>
    <dgm:cxn modelId="{08CDC1E4-ED0C-A145-A4AA-5AA058BF0833}" type="presParOf" srcId="{8D419C7C-C28D-5A42-9C43-2CE860494D48}" destId="{43905666-119D-D049-920C-99D67A82A2FD}" srcOrd="0" destOrd="0" presId="urn:microsoft.com/office/officeart/2005/8/layout/vList2"/>
    <dgm:cxn modelId="{27525B90-B85D-B244-BD8B-05713C5DBDC1}" type="presParOf" srcId="{8D419C7C-C28D-5A42-9C43-2CE860494D48}" destId="{293AF2BA-9EDF-5144-8DEC-AC2FB899E404}" srcOrd="1" destOrd="0" presId="urn:microsoft.com/office/officeart/2005/8/layout/vList2"/>
    <dgm:cxn modelId="{75C8A3E7-24BD-8E44-9239-C7855462A8B1}" type="presParOf" srcId="{8D419C7C-C28D-5A42-9C43-2CE860494D48}" destId="{2FA9BC22-8FDE-6B40-8436-9AD6DFBFE87F}" srcOrd="2" destOrd="0" presId="urn:microsoft.com/office/officeart/2005/8/layout/vList2"/>
    <dgm:cxn modelId="{2E4BAA3C-6A49-2B4A-AE3F-B35F4CBC38F7}" type="presParOf" srcId="{8D419C7C-C28D-5A42-9C43-2CE860494D48}" destId="{31D471A4-1352-3C44-95B8-8C638E391BF0}" srcOrd="3" destOrd="0" presId="urn:microsoft.com/office/officeart/2005/8/layout/vList2"/>
    <dgm:cxn modelId="{D5FE4CA8-143B-754B-ACEF-9C9F351C16C0}" type="presParOf" srcId="{8D419C7C-C28D-5A42-9C43-2CE860494D48}" destId="{AA8EB940-F962-9043-9D77-4E85AC6E4515}" srcOrd="4" destOrd="0" presId="urn:microsoft.com/office/officeart/2005/8/layout/vList2"/>
    <dgm:cxn modelId="{E69526BF-1D99-C643-8CBD-46E00C2D68B3}" type="presParOf" srcId="{8D419C7C-C28D-5A42-9C43-2CE860494D48}" destId="{7FBC4133-276C-B943-8157-253978871DAB}" srcOrd="5" destOrd="0" presId="urn:microsoft.com/office/officeart/2005/8/layout/vList2"/>
    <dgm:cxn modelId="{E5E5AA94-5AB6-C848-A7F9-C40437E412F4}" type="presParOf" srcId="{8D419C7C-C28D-5A42-9C43-2CE860494D48}" destId="{BC01CDF1-2842-6E41-8117-5E2182C9B16E}" srcOrd="6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43905666-119D-D049-920C-99D67A82A2FD}">
      <dsp:nvSpPr>
        <dsp:cNvPr id="0" name=""/>
        <dsp:cNvSpPr/>
      </dsp:nvSpPr>
      <dsp:spPr>
        <a:xfrm>
          <a:off x="0" y="104360"/>
          <a:ext cx="6096000" cy="737099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4300" tIns="114300" rIns="114300" bIns="114300" numCol="1" spcCol="1270" anchor="ctr" anchorCtr="0">
          <a:noAutofit/>
        </a:bodyPr>
        <a:lstStyle/>
        <a:p>
          <a:pPr marL="0" lvl="0" indent="0" algn="l" defTabSz="1333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MX" sz="3000" kern="1200"/>
            <a:t>Ejemplo:</a:t>
          </a:r>
          <a:endParaRPr lang="en-US" sz="3000" kern="1200"/>
        </a:p>
      </dsp:txBody>
      <dsp:txXfrm>
        <a:off x="35982" y="140342"/>
        <a:ext cx="6024036" cy="665135"/>
      </dsp:txXfrm>
    </dsp:sp>
    <dsp:sp modelId="{2FA9BC22-8FDE-6B40-8436-9AD6DFBFE87F}">
      <dsp:nvSpPr>
        <dsp:cNvPr id="0" name=""/>
        <dsp:cNvSpPr/>
      </dsp:nvSpPr>
      <dsp:spPr>
        <a:xfrm>
          <a:off x="0" y="927860"/>
          <a:ext cx="6096000" cy="737099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4300" tIns="114300" rIns="114300" bIns="114300" numCol="1" spcCol="1270" anchor="ctr" anchorCtr="0">
          <a:noAutofit/>
        </a:bodyPr>
        <a:lstStyle/>
        <a:p>
          <a:pPr marL="0" lvl="0" indent="0" algn="l" defTabSz="1333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MX" sz="3000" kern="1200"/>
            <a:t>Frontend → Web o App móvil </a:t>
          </a:r>
          <a:endParaRPr lang="en-US" sz="3000" kern="1200"/>
        </a:p>
      </dsp:txBody>
      <dsp:txXfrm>
        <a:off x="35982" y="963842"/>
        <a:ext cx="6024036" cy="665135"/>
      </dsp:txXfrm>
    </dsp:sp>
    <dsp:sp modelId="{AA8EB940-F962-9043-9D77-4E85AC6E4515}">
      <dsp:nvSpPr>
        <dsp:cNvPr id="0" name=""/>
        <dsp:cNvSpPr/>
      </dsp:nvSpPr>
      <dsp:spPr>
        <a:xfrm>
          <a:off x="0" y="1751360"/>
          <a:ext cx="6096000" cy="737099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4300" tIns="114300" rIns="114300" bIns="114300" numCol="1" spcCol="1270" anchor="ctr" anchorCtr="0">
          <a:noAutofit/>
        </a:bodyPr>
        <a:lstStyle/>
        <a:p>
          <a:pPr marL="0" lvl="0" indent="0" algn="l" defTabSz="1333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MX" sz="3000" kern="1200"/>
            <a:t>Backend → API REST </a:t>
          </a:r>
          <a:endParaRPr lang="en-US" sz="3000" kern="1200"/>
        </a:p>
      </dsp:txBody>
      <dsp:txXfrm>
        <a:off x="35982" y="1787342"/>
        <a:ext cx="6024036" cy="665135"/>
      </dsp:txXfrm>
    </dsp:sp>
    <dsp:sp modelId="{BC01CDF1-2842-6E41-8117-5E2182C9B16E}">
      <dsp:nvSpPr>
        <dsp:cNvPr id="0" name=""/>
        <dsp:cNvSpPr/>
      </dsp:nvSpPr>
      <dsp:spPr>
        <a:xfrm>
          <a:off x="0" y="2574860"/>
          <a:ext cx="6096000" cy="737099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4300" tIns="114300" rIns="114300" bIns="114300" numCol="1" spcCol="1270" anchor="ctr" anchorCtr="0">
          <a:noAutofit/>
        </a:bodyPr>
        <a:lstStyle/>
        <a:p>
          <a:pPr marL="0" lvl="0" indent="0" algn="l" defTabSz="1333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MX" sz="3000" kern="1200"/>
            <a:t>Base de datos → SQL o NoSQL</a:t>
          </a:r>
          <a:endParaRPr lang="en-US" sz="3000" kern="1200"/>
        </a:p>
      </dsp:txBody>
      <dsp:txXfrm>
        <a:off x="35982" y="2610842"/>
        <a:ext cx="6024036" cy="665135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MX"/>
          </a:p>
        </p:txBody>
      </p:sp>
      <p:sp>
        <p:nvSpPr>
          <p:cNvPr id="3" name="Marcador de fech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857EEC5-57A6-1244-97F9-81F2AB535DB5}" type="datetimeFigureOut">
              <a:rPr lang="es-MX" smtClean="0"/>
              <a:t>06/05/2026</a:t>
            </a:fld>
            <a:endParaRPr lang="es-MX"/>
          </a:p>
        </p:txBody>
      </p:sp>
      <p:sp>
        <p:nvSpPr>
          <p:cNvPr id="4" name="Marcador de imagen d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s-MX"/>
          </a:p>
        </p:txBody>
      </p:sp>
      <p:sp>
        <p:nvSpPr>
          <p:cNvPr id="5" name="Marcador de nota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MX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4131174-1F7C-6645-B387-C5B0E2F733C9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102231214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MX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4131174-1F7C-6645-B387-C5B0E2F733C9}" type="slidenum">
              <a:rPr lang="es-MX" smtClean="0"/>
              <a:t>10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395670194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640AAD-80AF-40E7-BE3F-43D32FC68ED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l">
              <a:defRPr sz="6000" b="1" i="0" cap="all" baseline="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C80FBD9-0977-4B2B-9318-30774BB0947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l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CE66DA5-7751-4D3D-B753-58DF3B4187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4B53A7-3209-46A6-9454-F38EAC8F11E7}" type="datetimeFigureOut">
              <a:rPr lang="en-US" smtClean="0"/>
              <a:t>5/6/2026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F8C2A2A-62DB-40C0-8AE7-CB9B98649BB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401EAA4-F44C-4C1F-B8E3-1A3005300F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CE633F-9882-4A5C-83A2-1109D0C73261}" type="slidenum">
              <a:rPr lang="en-US" smtClean="0"/>
              <a:t>‹Nº›</a:t>
            </a:fld>
            <a:endParaRPr lang="en-US"/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D1B787A8-0D67-4B7E-9B48-86BD906AB6B5}"/>
              </a:ext>
            </a:extLst>
          </p:cNvPr>
          <p:cNvCxnSpPr>
            <a:cxnSpLocks/>
          </p:cNvCxnSpPr>
          <p:nvPr/>
        </p:nvCxnSpPr>
        <p:spPr>
          <a:xfrm>
            <a:off x="715890" y="1114050"/>
            <a:ext cx="0" cy="5735637"/>
          </a:xfrm>
          <a:prstGeom prst="line">
            <a:avLst/>
          </a:prstGeom>
          <a:ln w="25400" cap="sq">
            <a:gradFill flip="none" rotWithShape="1">
              <a:gsLst>
                <a:gs pos="0">
                  <a:schemeClr val="accent2"/>
                </a:gs>
                <a:gs pos="100000">
                  <a:schemeClr val="accent4"/>
                </a:gs>
              </a:gsLst>
              <a:lin ang="16200000" scaled="1"/>
              <a:tileRect/>
            </a:gradFill>
            <a:beve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88760324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96CF8C-1EA0-4E47-AC60-CAC3B80A3C5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28CABF8-19D8-4F3C-994F-4D35EC7A2C3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097BB2D-4E2C-4490-A2A3-4B68BCC5D2F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4B53A7-3209-46A6-9454-F38EAC8F11E7}" type="datetimeFigureOut">
              <a:rPr lang="en-US" smtClean="0"/>
              <a:t>5/6/2026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140F15D-DD72-46D5-BF0F-F506471070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266FD4D-815A-431C-ADEF-DE6F236F61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CE633F-9882-4A5C-83A2-1109D0C73261}" type="slidenum">
              <a:rPr lang="en-US" smtClean="0"/>
              <a:t>‹Nº›</a:t>
            </a:fld>
            <a:endParaRPr lang="en-US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5C05CAAB-DBA2-4548-AD5F-01BB97FBB207}"/>
              </a:ext>
            </a:extLst>
          </p:cNvPr>
          <p:cNvCxnSpPr>
            <a:cxnSpLocks/>
          </p:cNvCxnSpPr>
          <p:nvPr/>
        </p:nvCxnSpPr>
        <p:spPr>
          <a:xfrm>
            <a:off x="715890" y="356812"/>
            <a:ext cx="0" cy="6492875"/>
          </a:xfrm>
          <a:prstGeom prst="line">
            <a:avLst/>
          </a:prstGeom>
          <a:ln w="25400" cap="sq">
            <a:gradFill flip="none" rotWithShape="1">
              <a:gsLst>
                <a:gs pos="0">
                  <a:schemeClr val="accent2"/>
                </a:gs>
                <a:gs pos="100000">
                  <a:schemeClr val="accent4"/>
                </a:gs>
              </a:gsLst>
              <a:lin ang="16200000" scaled="1"/>
              <a:tileRect/>
            </a:gradFill>
            <a:beve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56985120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5FC2D1-D3FE-4B37-8740-57444421FDB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 b="1" i="0" cap="all" baseline="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A5AF550-086C-426E-A374-85DB3957017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9A58988-AD39-4AE9-8E6A-0907F0BE267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4B53A7-3209-46A6-9454-F38EAC8F11E7}" type="datetimeFigureOut">
              <a:rPr lang="en-US" smtClean="0"/>
              <a:t>5/6/2026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D366319-82EE-408E-819F-8F8E6DBA7A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F21C8A6-777F-496D-8620-AE52BFC33F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CE633F-9882-4A5C-83A2-1109D0C73261}" type="slidenum">
              <a:rPr lang="en-US" smtClean="0"/>
              <a:t>‹Nº›</a:t>
            </a:fld>
            <a:endParaRPr lang="en-US"/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C031F83B-57A8-4533-981C-D1FFAD2B6B6F}"/>
              </a:ext>
            </a:extLst>
          </p:cNvPr>
          <p:cNvCxnSpPr>
            <a:cxnSpLocks/>
          </p:cNvCxnSpPr>
          <p:nvPr/>
        </p:nvCxnSpPr>
        <p:spPr>
          <a:xfrm>
            <a:off x="715890" y="1701425"/>
            <a:ext cx="0" cy="5148262"/>
          </a:xfrm>
          <a:prstGeom prst="line">
            <a:avLst/>
          </a:prstGeom>
          <a:ln w="25400" cap="sq">
            <a:gradFill flip="none" rotWithShape="1">
              <a:gsLst>
                <a:gs pos="0">
                  <a:schemeClr val="accent2"/>
                </a:gs>
                <a:gs pos="100000">
                  <a:schemeClr val="accent4"/>
                </a:gs>
              </a:gsLst>
              <a:lin ang="16200000" scaled="1"/>
              <a:tileRect/>
            </a:gradFill>
            <a:beve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42154059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9257166-6921-4546-BA2C-99E464681F4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95B9122-6371-4049-B57A-33DED7DA2F7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A14555D-0753-4312-A26B-2338813F9BB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3D8FDCB-69DA-4A8F-8B91-5CFF77897C2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4B53A7-3209-46A6-9454-F38EAC8F11E7}" type="datetimeFigureOut">
              <a:rPr lang="en-US" smtClean="0"/>
              <a:t>5/6/2026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1AC8C07-E0D3-4464-AE3C-25730D75C8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C2596A6-734E-4AE0-BFB8-3089137BF8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CE633F-9882-4A5C-83A2-1109D0C73261}" type="slidenum">
              <a:rPr lang="en-US" smtClean="0"/>
              <a:t>‹Nº›</a:t>
            </a:fld>
            <a:endParaRPr lang="en-US"/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3FB7E8F4-3FB3-45AB-A381-9093CA95AAEE}"/>
              </a:ext>
            </a:extLst>
          </p:cNvPr>
          <p:cNvCxnSpPr>
            <a:cxnSpLocks/>
          </p:cNvCxnSpPr>
          <p:nvPr/>
        </p:nvCxnSpPr>
        <p:spPr>
          <a:xfrm>
            <a:off x="715890" y="356812"/>
            <a:ext cx="0" cy="6492875"/>
          </a:xfrm>
          <a:prstGeom prst="line">
            <a:avLst/>
          </a:prstGeom>
          <a:ln w="25400" cap="sq">
            <a:gradFill flip="none" rotWithShape="1">
              <a:gsLst>
                <a:gs pos="0">
                  <a:schemeClr val="accent2"/>
                </a:gs>
                <a:gs pos="100000">
                  <a:schemeClr val="accent4"/>
                </a:gs>
              </a:gsLst>
              <a:lin ang="16200000" scaled="1"/>
              <a:tileRect/>
            </a:gradFill>
            <a:beve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621055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F057AE-3B3B-4261-B912-BF9EB9A58C3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2A2D237-A706-4712-90CA-B04517CBBE0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DE39CA1-2B6D-427E-9688-9093D5865CB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3D53357-616B-47F4-944B-F979FE96635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D7EA593-3036-4FB5-94B4-D9431DF0487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E86B3EF2-2C04-480F-A570-14E520DD00D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4B53A7-3209-46A6-9454-F38EAC8F11E7}" type="datetimeFigureOut">
              <a:rPr lang="en-US" smtClean="0"/>
              <a:t>5/6/2026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1CF5783E-3073-4F4D-8B9C-C5B18DDA5A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1A75FE3-6719-4790-AA00-251BC2A6E5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CE633F-9882-4A5C-83A2-1109D0C73261}" type="slidenum">
              <a:rPr lang="en-US" smtClean="0"/>
              <a:t>‹Nº›</a:t>
            </a:fld>
            <a:endParaRPr lang="en-US"/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160F34ED-DA60-4CC2-B735-B0EC5D9FEA35}"/>
              </a:ext>
            </a:extLst>
          </p:cNvPr>
          <p:cNvCxnSpPr>
            <a:cxnSpLocks/>
          </p:cNvCxnSpPr>
          <p:nvPr/>
        </p:nvCxnSpPr>
        <p:spPr>
          <a:xfrm>
            <a:off x="715890" y="356812"/>
            <a:ext cx="0" cy="6492875"/>
          </a:xfrm>
          <a:prstGeom prst="line">
            <a:avLst/>
          </a:prstGeom>
          <a:ln w="25400" cap="sq">
            <a:gradFill flip="none" rotWithShape="1">
              <a:gsLst>
                <a:gs pos="0">
                  <a:schemeClr val="accent2"/>
                </a:gs>
                <a:gs pos="100000">
                  <a:schemeClr val="accent4"/>
                </a:gs>
              </a:gsLst>
              <a:lin ang="16200000" scaled="1"/>
              <a:tileRect/>
            </a:gradFill>
            <a:beve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52744017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969F227-D21C-48B3-828A-6BFA9585E82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DF1DFFF-E5C5-43DF-B71C-7270DB97372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4B53A7-3209-46A6-9454-F38EAC8F11E7}" type="datetimeFigureOut">
              <a:rPr lang="en-US" smtClean="0"/>
              <a:t>5/6/2026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EBC03C0-6EB7-4633-967C-12C35768BB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0FF4306-91CD-4B7B-8A53-34BE8F9975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CE633F-9882-4A5C-83A2-1109D0C73261}" type="slidenum">
              <a:rPr lang="en-US" smtClean="0"/>
              <a:t>‹Nº›</a:t>
            </a:fld>
            <a:endParaRPr lang="en-US"/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57596AF9-469C-436D-B7D2-77952EF1825E}"/>
              </a:ext>
            </a:extLst>
          </p:cNvPr>
          <p:cNvCxnSpPr>
            <a:cxnSpLocks/>
          </p:cNvCxnSpPr>
          <p:nvPr/>
        </p:nvCxnSpPr>
        <p:spPr>
          <a:xfrm>
            <a:off x="715890" y="356812"/>
            <a:ext cx="0" cy="6492875"/>
          </a:xfrm>
          <a:prstGeom prst="line">
            <a:avLst/>
          </a:prstGeom>
          <a:ln w="25400" cap="sq">
            <a:gradFill flip="none" rotWithShape="1">
              <a:gsLst>
                <a:gs pos="0">
                  <a:schemeClr val="accent2"/>
                </a:gs>
                <a:gs pos="100000">
                  <a:schemeClr val="accent4"/>
                </a:gs>
              </a:gsLst>
              <a:lin ang="16200000" scaled="1"/>
              <a:tileRect/>
            </a:gradFill>
            <a:beve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9953272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FDFF36D6-399B-43E3-84DD-9FC5119ECCE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4B53A7-3209-46A6-9454-F38EAC8F11E7}" type="datetimeFigureOut">
              <a:rPr lang="en-US" smtClean="0"/>
              <a:t>5/6/2026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0234AB7-3B85-4028-A500-5A1BDBF45C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C1F40F0-9909-442F-BBA4-409D061ED0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CE633F-9882-4A5C-83A2-1109D0C73261}" type="slidenum">
              <a:rPr lang="en-US" smtClean="0"/>
              <a:t>‹Nº›</a:t>
            </a:fld>
            <a:endParaRPr lang="en-US"/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353C1207-D1C8-49E3-8837-E2B89D366FAE}"/>
              </a:ext>
            </a:extLst>
          </p:cNvPr>
          <p:cNvCxnSpPr>
            <a:cxnSpLocks/>
          </p:cNvCxnSpPr>
          <p:nvPr/>
        </p:nvCxnSpPr>
        <p:spPr>
          <a:xfrm>
            <a:off x="715890" y="356812"/>
            <a:ext cx="0" cy="6492875"/>
          </a:xfrm>
          <a:prstGeom prst="line">
            <a:avLst/>
          </a:prstGeom>
          <a:ln w="25400" cap="sq">
            <a:gradFill flip="none" rotWithShape="1">
              <a:gsLst>
                <a:gs pos="0">
                  <a:schemeClr val="accent2"/>
                </a:gs>
                <a:gs pos="100000">
                  <a:schemeClr val="accent4"/>
                </a:gs>
              </a:gsLst>
              <a:lin ang="16200000" scaled="1"/>
              <a:tileRect/>
            </a:gradFill>
            <a:beve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69150816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40F214-646F-4D81-AD12-65628EC987D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EF71768-C3FA-49EF-99EF-06E6C3B2846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2DA6F24-ED6C-4D12-A9D6-EE37FBD6869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8E6AACE-FAFB-4934-8E3C-AB5B216353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4B53A7-3209-46A6-9454-F38EAC8F11E7}" type="datetimeFigureOut">
              <a:rPr lang="en-US" smtClean="0"/>
              <a:t>5/6/2026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81533EA-D0F8-4C79-8721-F190DE2D2DC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059BAC9-F101-4394-BBA4-3D21A34971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CE633F-9882-4A5C-83A2-1109D0C73261}" type="slidenum">
              <a:rPr lang="en-US" smtClean="0"/>
              <a:t>‹Nº›</a:t>
            </a:fld>
            <a:endParaRPr lang="en-US"/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0F3A79C9-7EDC-44F6-AC48-5DD98A7695AD}"/>
              </a:ext>
            </a:extLst>
          </p:cNvPr>
          <p:cNvCxnSpPr>
            <a:cxnSpLocks/>
          </p:cNvCxnSpPr>
          <p:nvPr/>
        </p:nvCxnSpPr>
        <p:spPr>
          <a:xfrm>
            <a:off x="715890" y="356812"/>
            <a:ext cx="0" cy="6492875"/>
          </a:xfrm>
          <a:prstGeom prst="line">
            <a:avLst/>
          </a:prstGeom>
          <a:ln w="25400" cap="sq">
            <a:gradFill flip="none" rotWithShape="1">
              <a:gsLst>
                <a:gs pos="0">
                  <a:schemeClr val="accent2"/>
                </a:gs>
                <a:gs pos="100000">
                  <a:schemeClr val="accent4"/>
                </a:gs>
              </a:gsLst>
              <a:lin ang="16200000" scaled="1"/>
              <a:tileRect/>
            </a:gradFill>
            <a:beve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15941273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4CB71F-B6C2-4866-BC97-304F78816E4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C55ED73B-8413-478D-80D7-B78B69763B6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1BDF226-1B94-4D2D-98B3-7B932FB17DA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00C4E9A-CA29-4CCD-ACFA-B29F80FBA1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4B53A7-3209-46A6-9454-F38EAC8F11E7}" type="datetimeFigureOut">
              <a:rPr lang="en-US" smtClean="0"/>
              <a:t>5/6/2026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1A5B7BE-3F1B-4FF3-B1D7-6E39B99D07B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42F18F1-E27E-470E-AE13-4755DEE63A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CE633F-9882-4A5C-83A2-1109D0C73261}" type="slidenum">
              <a:rPr lang="en-US" smtClean="0"/>
              <a:t>‹Nº›</a:t>
            </a:fld>
            <a:endParaRPr lang="en-US"/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00F08750-B7F2-4119-B151-68DE77481335}"/>
              </a:ext>
            </a:extLst>
          </p:cNvPr>
          <p:cNvCxnSpPr>
            <a:cxnSpLocks/>
          </p:cNvCxnSpPr>
          <p:nvPr/>
        </p:nvCxnSpPr>
        <p:spPr>
          <a:xfrm>
            <a:off x="715890" y="356812"/>
            <a:ext cx="0" cy="6492875"/>
          </a:xfrm>
          <a:prstGeom prst="line">
            <a:avLst/>
          </a:prstGeom>
          <a:ln w="25400" cap="sq">
            <a:gradFill flip="none" rotWithShape="1">
              <a:gsLst>
                <a:gs pos="0">
                  <a:schemeClr val="accent2"/>
                </a:gs>
                <a:gs pos="100000">
                  <a:schemeClr val="accent4"/>
                </a:gs>
              </a:gsLst>
              <a:lin ang="16200000" scaled="1"/>
              <a:tileRect/>
            </a:gradFill>
            <a:beve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21747436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6AD429-654B-4F0E-94E9-6FEF8EC67EF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68D60B2-06F5-4567-BE1F-BBA5270537B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216F6F2-8269-4B80-8EE3-81FEE0F9DF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4B53A7-3209-46A6-9454-F38EAC8F11E7}" type="datetimeFigureOut">
              <a:rPr lang="en-US" smtClean="0"/>
              <a:t>5/6/2026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6BC86E4-3EDE-4EB4-B1A3-A1198AADD17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41752B0-ACEC-49EF-8131-FCF35BC5CD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CE633F-9882-4A5C-83A2-1109D0C73261}" type="slidenum">
              <a:rPr lang="en-US" smtClean="0"/>
              <a:t>‹Nº›</a:t>
            </a:fld>
            <a:endParaRPr lang="en-US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1A0462E3-375D-4E76-8886-69E06985D069}"/>
              </a:ext>
            </a:extLst>
          </p:cNvPr>
          <p:cNvCxnSpPr>
            <a:cxnSpLocks/>
          </p:cNvCxnSpPr>
          <p:nvPr/>
        </p:nvCxnSpPr>
        <p:spPr>
          <a:xfrm>
            <a:off x="715890" y="356812"/>
            <a:ext cx="0" cy="6492875"/>
          </a:xfrm>
          <a:prstGeom prst="line">
            <a:avLst/>
          </a:prstGeom>
          <a:ln w="25400" cap="sq">
            <a:gradFill flip="none" rotWithShape="1">
              <a:gsLst>
                <a:gs pos="0">
                  <a:schemeClr val="accent2"/>
                </a:gs>
                <a:gs pos="100000">
                  <a:schemeClr val="accent4"/>
                </a:gs>
              </a:gsLst>
              <a:lin ang="16200000" scaled="1"/>
              <a:tileRect/>
            </a:gradFill>
            <a:beve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15417123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0423B094-F480-477B-901C-7181F88C076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D052089-A920-4E52-98DC-8A5DC7B0ACC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4A074FE-F1B4-421F-A66E-FA351C8F99E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4B53A7-3209-46A6-9454-F38EAC8F11E7}" type="datetimeFigureOut">
              <a:rPr lang="en-US" smtClean="0"/>
              <a:t>5/6/2026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4D764BA-3AB2-45FD-ABCB-975B3FDDF2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6FB3FEF-8252-49FD-82F2-3E5FABC65F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CE633F-9882-4A5C-83A2-1109D0C73261}" type="slidenum">
              <a:rPr lang="en-US" smtClean="0"/>
              <a:t>‹Nº›</a:t>
            </a:fld>
            <a:endParaRPr lang="en-US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0AEB5C65-83BB-4EBD-AD22-EDA8489D0F5D}"/>
              </a:ext>
            </a:extLst>
          </p:cNvPr>
          <p:cNvCxnSpPr>
            <a:cxnSpLocks/>
          </p:cNvCxnSpPr>
          <p:nvPr/>
        </p:nvCxnSpPr>
        <p:spPr>
          <a:xfrm flipV="1">
            <a:off x="8313" y="261865"/>
            <a:ext cx="11353802" cy="1"/>
          </a:xfrm>
          <a:prstGeom prst="line">
            <a:avLst/>
          </a:prstGeom>
          <a:ln w="25400" cap="sq">
            <a:gradFill flip="none" rotWithShape="1">
              <a:gsLst>
                <a:gs pos="0">
                  <a:schemeClr val="accent2"/>
                </a:gs>
                <a:gs pos="100000">
                  <a:schemeClr val="accent4"/>
                </a:gs>
              </a:gsLst>
              <a:lin ang="0" scaled="1"/>
              <a:tileRect/>
            </a:gradFill>
            <a:beve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58449451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0FDA4224-F4E4-47A4-ACF7-2317493908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1679907-DC49-4B86-A34C-C97DBC26A93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5DBC8A0-34FC-4B6E-B42B-A721267D890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 b="1" i="0" cap="all" spc="1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A4B53A7-3209-46A6-9454-F38EAC8F11E7}" type="datetimeFigureOut">
              <a:rPr lang="en-US" smtClean="0"/>
              <a:pPr/>
              <a:t>5/6/2026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09AC0B6-4CC4-4E41-8A4D-F62E17F2857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 b="1" i="0" cap="all" spc="1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6C0E9BD-90BD-46AE-8A0D-06796ADB760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 b="1" i="0" cap="all" spc="1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7CE633F-9882-4A5C-83A2-1109D0C73261}" type="slidenum">
              <a:rPr lang="en-US" smtClean="0"/>
              <a:pPr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3920493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17" r:id="rId1"/>
    <p:sldLayoutId id="2147483718" r:id="rId2"/>
    <p:sldLayoutId id="2147483719" r:id="rId3"/>
    <p:sldLayoutId id="2147483720" r:id="rId4"/>
    <p:sldLayoutId id="2147483721" r:id="rId5"/>
    <p:sldLayoutId id="2147483722" r:id="rId6"/>
    <p:sldLayoutId id="2147483713" r:id="rId7"/>
    <p:sldLayoutId id="2147483714" r:id="rId8"/>
    <p:sldLayoutId id="2147483715" r:id="rId9"/>
    <p:sldLayoutId id="2147483716" r:id="rId10"/>
    <p:sldLayoutId id="2147483723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sv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EFA9B6C6-A247-48A8-9A1C-1E36FA9456B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7480300" cy="6858000"/>
          </a:xfrm>
          <a:prstGeom prst="rect">
            <a:avLst/>
          </a:prstGeom>
          <a:gradFill flip="none" rotWithShape="1">
            <a:gsLst>
              <a:gs pos="100000">
                <a:schemeClr val="accent4"/>
              </a:gs>
              <a:gs pos="0">
                <a:schemeClr val="accent2"/>
              </a:gs>
            </a:gsLst>
            <a:lin ang="27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D8DEAB1B-E021-7A15-3DA4-D6DC37F7449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00136" y="590062"/>
            <a:ext cx="5141964" cy="2838938"/>
          </a:xfrm>
        </p:spPr>
        <p:txBody>
          <a:bodyPr>
            <a:normAutofit/>
          </a:bodyPr>
          <a:lstStyle/>
          <a:p>
            <a:r>
              <a:rPr lang="es-MX" sz="3800" b="1">
                <a:solidFill>
                  <a:schemeClr val="bg1"/>
                </a:solidFill>
              </a:rPr>
              <a:t>Propuesta inicial de Proyecto Integrador DevOps</a:t>
            </a:r>
            <a:br>
              <a:rPr lang="es-MX" sz="3800" b="1">
                <a:solidFill>
                  <a:schemeClr val="bg1"/>
                </a:solidFill>
              </a:rPr>
            </a:br>
            <a:endParaRPr lang="es-MX" sz="3800">
              <a:solidFill>
                <a:schemeClr val="bg1"/>
              </a:solidFill>
            </a:endParaRP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BD7227A5-8267-FDCC-E757-7C0BF7F53BD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00136" y="3505199"/>
            <a:ext cx="5141949" cy="1198120"/>
          </a:xfrm>
        </p:spPr>
        <p:txBody>
          <a:bodyPr>
            <a:normAutofit/>
          </a:bodyPr>
          <a:lstStyle/>
          <a:p>
            <a:r>
              <a:rPr lang="es-MX" sz="1300" b="1">
                <a:solidFill>
                  <a:schemeClr val="bg1"/>
                </a:solidFill>
              </a:rPr>
              <a:t>Objetivo general del proyecto</a:t>
            </a:r>
          </a:p>
          <a:p>
            <a:r>
              <a:rPr lang="es-MX" sz="1300">
                <a:solidFill>
                  <a:schemeClr val="bg1"/>
                </a:solidFill>
              </a:rPr>
              <a:t>Demostrar las habilidades aprendidas a lo largo del programa mediante el desarrollo e integración de un proyecto funcional, aplicando la </a:t>
            </a:r>
            <a:r>
              <a:rPr lang="es-MX" sz="1300" b="1">
                <a:solidFill>
                  <a:schemeClr val="bg1"/>
                </a:solidFill>
              </a:rPr>
              <a:t>metodología DevOps</a:t>
            </a:r>
            <a:r>
              <a:rPr lang="es-MX" sz="1300">
                <a:solidFill>
                  <a:schemeClr val="bg1"/>
                </a:solidFill>
              </a:rPr>
              <a:t>, desde la planificación hasta el despliegue y monitoreo continuo.</a:t>
            </a:r>
          </a:p>
          <a:p>
            <a:endParaRPr lang="es-MX" sz="1300">
              <a:solidFill>
                <a:schemeClr val="bg1"/>
              </a:solidFill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24B648E1-AD19-1CCF-B3B7-FCE4964D7DB0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32447" r="12589" b="-1"/>
          <a:stretch>
            <a:fillRect/>
          </a:stretch>
        </p:blipFill>
        <p:spPr>
          <a:xfrm>
            <a:off x="7480300" y="10"/>
            <a:ext cx="4711700" cy="6857990"/>
          </a:xfrm>
          <a:prstGeom prst="rect">
            <a:avLst/>
          </a:prstGeom>
        </p:spPr>
      </p:pic>
      <p:sp>
        <p:nvSpPr>
          <p:cNvPr id="18" name="Graphic 13">
            <a:extLst>
              <a:ext uri="{FF2B5EF4-FFF2-40B4-BE49-F238E27FC236}">
                <a16:creationId xmlns:a16="http://schemas.microsoft.com/office/drawing/2014/main" id="{C5CB530E-515E-412C-9DF1-5F8FFBD6F38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757334" y="1931746"/>
            <a:ext cx="139038" cy="139038"/>
          </a:xfrm>
          <a:custGeom>
            <a:avLst/>
            <a:gdLst>
              <a:gd name="connsiteX0" fmla="*/ 129601 w 139038"/>
              <a:gd name="connsiteY0" fmla="*/ 60082 h 139038"/>
              <a:gd name="connsiteX1" fmla="*/ 78956 w 139038"/>
              <a:gd name="connsiteY1" fmla="*/ 60082 h 139038"/>
              <a:gd name="connsiteX2" fmla="*/ 78956 w 139038"/>
              <a:gd name="connsiteY2" fmla="*/ 9437 h 139038"/>
              <a:gd name="connsiteX3" fmla="*/ 69519 w 139038"/>
              <a:gd name="connsiteY3" fmla="*/ 0 h 139038"/>
              <a:gd name="connsiteX4" fmla="*/ 60082 w 139038"/>
              <a:gd name="connsiteY4" fmla="*/ 9437 h 139038"/>
              <a:gd name="connsiteX5" fmla="*/ 60082 w 139038"/>
              <a:gd name="connsiteY5" fmla="*/ 60082 h 139038"/>
              <a:gd name="connsiteX6" fmla="*/ 9437 w 139038"/>
              <a:gd name="connsiteY6" fmla="*/ 60082 h 139038"/>
              <a:gd name="connsiteX7" fmla="*/ 0 w 139038"/>
              <a:gd name="connsiteY7" fmla="*/ 69519 h 139038"/>
              <a:gd name="connsiteX8" fmla="*/ 9437 w 139038"/>
              <a:gd name="connsiteY8" fmla="*/ 78956 h 139038"/>
              <a:gd name="connsiteX9" fmla="*/ 60082 w 139038"/>
              <a:gd name="connsiteY9" fmla="*/ 78956 h 139038"/>
              <a:gd name="connsiteX10" fmla="*/ 60082 w 139038"/>
              <a:gd name="connsiteY10" fmla="*/ 129601 h 139038"/>
              <a:gd name="connsiteX11" fmla="*/ 69519 w 139038"/>
              <a:gd name="connsiteY11" fmla="*/ 139038 h 139038"/>
              <a:gd name="connsiteX12" fmla="*/ 78956 w 139038"/>
              <a:gd name="connsiteY12" fmla="*/ 129601 h 139038"/>
              <a:gd name="connsiteX13" fmla="*/ 78956 w 139038"/>
              <a:gd name="connsiteY13" fmla="*/ 78956 h 139038"/>
              <a:gd name="connsiteX14" fmla="*/ 129601 w 139038"/>
              <a:gd name="connsiteY14" fmla="*/ 78956 h 139038"/>
              <a:gd name="connsiteX15" fmla="*/ 139038 w 139038"/>
              <a:gd name="connsiteY15" fmla="*/ 69519 h 139038"/>
              <a:gd name="connsiteX16" fmla="*/ 129601 w 139038"/>
              <a:gd name="connsiteY16" fmla="*/ 60082 h 13903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139038" h="139038">
                <a:moveTo>
                  <a:pt x="129601" y="60082"/>
                </a:moveTo>
                <a:lnTo>
                  <a:pt x="78956" y="60082"/>
                </a:lnTo>
                <a:lnTo>
                  <a:pt x="78956" y="9437"/>
                </a:lnTo>
                <a:cubicBezTo>
                  <a:pt x="78956" y="4225"/>
                  <a:pt x="74731" y="0"/>
                  <a:pt x="69519" y="0"/>
                </a:cubicBezTo>
                <a:cubicBezTo>
                  <a:pt x="64307" y="0"/>
                  <a:pt x="60082" y="4225"/>
                  <a:pt x="60082" y="9437"/>
                </a:cubicBezTo>
                <a:lnTo>
                  <a:pt x="60082" y="60082"/>
                </a:lnTo>
                <a:lnTo>
                  <a:pt x="9437" y="60082"/>
                </a:lnTo>
                <a:cubicBezTo>
                  <a:pt x="4225" y="60082"/>
                  <a:pt x="0" y="64307"/>
                  <a:pt x="0" y="69519"/>
                </a:cubicBezTo>
                <a:cubicBezTo>
                  <a:pt x="0" y="74731"/>
                  <a:pt x="4225" y="78956"/>
                  <a:pt x="9437" y="78956"/>
                </a:cubicBezTo>
                <a:lnTo>
                  <a:pt x="60082" y="78956"/>
                </a:lnTo>
                <a:lnTo>
                  <a:pt x="60082" y="129601"/>
                </a:lnTo>
                <a:cubicBezTo>
                  <a:pt x="60082" y="134813"/>
                  <a:pt x="64307" y="139038"/>
                  <a:pt x="69519" y="139038"/>
                </a:cubicBezTo>
                <a:cubicBezTo>
                  <a:pt x="74731" y="139038"/>
                  <a:pt x="78956" y="134813"/>
                  <a:pt x="78956" y="129601"/>
                </a:cubicBezTo>
                <a:lnTo>
                  <a:pt x="78956" y="78956"/>
                </a:lnTo>
                <a:lnTo>
                  <a:pt x="129601" y="78956"/>
                </a:lnTo>
                <a:cubicBezTo>
                  <a:pt x="134813" y="78956"/>
                  <a:pt x="139038" y="74731"/>
                  <a:pt x="139038" y="69519"/>
                </a:cubicBezTo>
                <a:cubicBezTo>
                  <a:pt x="139038" y="64307"/>
                  <a:pt x="134813" y="60082"/>
                  <a:pt x="129601" y="60082"/>
                </a:cubicBezTo>
                <a:close/>
              </a:path>
            </a:pathLst>
          </a:custGeom>
          <a:solidFill>
            <a:schemeClr val="bg1"/>
          </a:solidFill>
          <a:ln w="603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9" name="Graphic 12">
            <a:extLst>
              <a:ext uri="{FF2B5EF4-FFF2-40B4-BE49-F238E27FC236}">
                <a16:creationId xmlns:a16="http://schemas.microsoft.com/office/drawing/2014/main" id="{712D4376-A578-4FF1-94FC-245E7A6A489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116112" y="2141584"/>
            <a:ext cx="91138" cy="91138"/>
          </a:xfrm>
          <a:custGeom>
            <a:avLst/>
            <a:gdLst>
              <a:gd name="connsiteX0" fmla="*/ 91138 w 91138"/>
              <a:gd name="connsiteY0" fmla="*/ 45569 h 91138"/>
              <a:gd name="connsiteX1" fmla="*/ 45569 w 91138"/>
              <a:gd name="connsiteY1" fmla="*/ 91138 h 91138"/>
              <a:gd name="connsiteX2" fmla="*/ 0 w 91138"/>
              <a:gd name="connsiteY2" fmla="*/ 45569 h 91138"/>
              <a:gd name="connsiteX3" fmla="*/ 45569 w 91138"/>
              <a:gd name="connsiteY3" fmla="*/ 0 h 91138"/>
              <a:gd name="connsiteX4" fmla="*/ 91138 w 91138"/>
              <a:gd name="connsiteY4" fmla="*/ 45569 h 9113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91138" h="91138">
                <a:moveTo>
                  <a:pt x="91138" y="45569"/>
                </a:moveTo>
                <a:cubicBezTo>
                  <a:pt x="91138" y="70736"/>
                  <a:pt x="70736" y="91138"/>
                  <a:pt x="45569" y="91138"/>
                </a:cubicBezTo>
                <a:cubicBezTo>
                  <a:pt x="20402" y="91138"/>
                  <a:pt x="0" y="70736"/>
                  <a:pt x="0" y="45569"/>
                </a:cubicBezTo>
                <a:cubicBezTo>
                  <a:pt x="0" y="20402"/>
                  <a:pt x="20402" y="0"/>
                  <a:pt x="45569" y="0"/>
                </a:cubicBezTo>
                <a:cubicBezTo>
                  <a:pt x="70736" y="0"/>
                  <a:pt x="91138" y="20402"/>
                  <a:pt x="91138" y="45569"/>
                </a:cubicBezTo>
                <a:close/>
              </a:path>
            </a:pathLst>
          </a:custGeom>
          <a:solidFill>
            <a:schemeClr val="bg1"/>
          </a:solidFill>
          <a:ln w="422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20" name="Graphic 15">
            <a:extLst>
              <a:ext uri="{FF2B5EF4-FFF2-40B4-BE49-F238E27FC236}">
                <a16:creationId xmlns:a16="http://schemas.microsoft.com/office/drawing/2014/main" id="{AEA7509D-F04F-40CB-A0B3-EEF16499CC9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741794" y="2385465"/>
            <a:ext cx="127713" cy="127713"/>
          </a:xfrm>
          <a:custGeom>
            <a:avLst/>
            <a:gdLst>
              <a:gd name="connsiteX0" fmla="*/ 63857 w 127713"/>
              <a:gd name="connsiteY0" fmla="*/ 18874 h 127713"/>
              <a:gd name="connsiteX1" fmla="*/ 108839 w 127713"/>
              <a:gd name="connsiteY1" fmla="*/ 63857 h 127713"/>
              <a:gd name="connsiteX2" fmla="*/ 63857 w 127713"/>
              <a:gd name="connsiteY2" fmla="*/ 108839 h 127713"/>
              <a:gd name="connsiteX3" fmla="*/ 18874 w 127713"/>
              <a:gd name="connsiteY3" fmla="*/ 63857 h 127713"/>
              <a:gd name="connsiteX4" fmla="*/ 63857 w 127713"/>
              <a:gd name="connsiteY4" fmla="*/ 18874 h 127713"/>
              <a:gd name="connsiteX5" fmla="*/ 63857 w 127713"/>
              <a:gd name="connsiteY5" fmla="*/ 0 h 127713"/>
              <a:gd name="connsiteX6" fmla="*/ 0 w 127713"/>
              <a:gd name="connsiteY6" fmla="*/ 63857 h 127713"/>
              <a:gd name="connsiteX7" fmla="*/ 63857 w 127713"/>
              <a:gd name="connsiteY7" fmla="*/ 127713 h 127713"/>
              <a:gd name="connsiteX8" fmla="*/ 127713 w 127713"/>
              <a:gd name="connsiteY8" fmla="*/ 63857 h 127713"/>
              <a:gd name="connsiteX9" fmla="*/ 63857 w 127713"/>
              <a:gd name="connsiteY9" fmla="*/ 0 h 12771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127713" h="127713">
                <a:moveTo>
                  <a:pt x="63857" y="18874"/>
                </a:moveTo>
                <a:cubicBezTo>
                  <a:pt x="88700" y="18874"/>
                  <a:pt x="108839" y="39013"/>
                  <a:pt x="108839" y="63857"/>
                </a:cubicBezTo>
                <a:cubicBezTo>
                  <a:pt x="108839" y="88700"/>
                  <a:pt x="88700" y="108839"/>
                  <a:pt x="63857" y="108839"/>
                </a:cubicBezTo>
                <a:cubicBezTo>
                  <a:pt x="39013" y="108839"/>
                  <a:pt x="18874" y="88700"/>
                  <a:pt x="18874" y="63857"/>
                </a:cubicBezTo>
                <a:cubicBezTo>
                  <a:pt x="18898" y="39023"/>
                  <a:pt x="39023" y="18898"/>
                  <a:pt x="63857" y="18874"/>
                </a:cubicBezTo>
                <a:moveTo>
                  <a:pt x="63857" y="0"/>
                </a:moveTo>
                <a:cubicBezTo>
                  <a:pt x="28590" y="0"/>
                  <a:pt x="0" y="28590"/>
                  <a:pt x="0" y="63857"/>
                </a:cubicBezTo>
                <a:cubicBezTo>
                  <a:pt x="0" y="99124"/>
                  <a:pt x="28590" y="127713"/>
                  <a:pt x="63857" y="127713"/>
                </a:cubicBezTo>
                <a:cubicBezTo>
                  <a:pt x="99124" y="127713"/>
                  <a:pt x="127713" y="99124"/>
                  <a:pt x="127713" y="63857"/>
                </a:cubicBezTo>
                <a:cubicBezTo>
                  <a:pt x="127713" y="28590"/>
                  <a:pt x="99124" y="0"/>
                  <a:pt x="63857" y="0"/>
                </a:cubicBezTo>
                <a:close/>
              </a:path>
            </a:pathLst>
          </a:custGeom>
          <a:solidFill>
            <a:schemeClr val="bg1"/>
          </a:solidFill>
          <a:ln w="610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56020367-4FD5-4596-8E10-C5F095CD8DB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75145" y="3505200"/>
            <a:ext cx="0" cy="3352800"/>
          </a:xfrm>
          <a:prstGeom prst="line">
            <a:avLst/>
          </a:prstGeom>
          <a:ln w="25400" cap="sq">
            <a:solidFill>
              <a:schemeClr val="bg1"/>
            </a:solidFill>
            <a:beve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71562742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8D1AA55E-40D5-461B-A5A8-4AE8AAB71B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64978006-744C-E193-52C2-4FD649E2172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336390"/>
            <a:ext cx="6155988" cy="1182927"/>
          </a:xfrm>
        </p:spPr>
        <p:txBody>
          <a:bodyPr anchor="b">
            <a:normAutofit/>
          </a:bodyPr>
          <a:lstStyle/>
          <a:p>
            <a:r>
              <a:rPr lang="es-MX" sz="3800"/>
              <a:t>Enfoque recomendado del proyecto</a:t>
            </a:r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7EB498BD-8089-4626-91EA-4978EBEF535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0" y="806470"/>
            <a:ext cx="7903723" cy="0"/>
          </a:xfrm>
          <a:prstGeom prst="line">
            <a:avLst/>
          </a:prstGeom>
          <a:ln w="25400" cap="sq">
            <a:gradFill flip="none" rotWithShape="1">
              <a:gsLst>
                <a:gs pos="0">
                  <a:schemeClr val="accent2"/>
                </a:gs>
                <a:gs pos="100000">
                  <a:schemeClr val="accent4"/>
                </a:gs>
              </a:gsLst>
              <a:lin ang="10800000" scaled="1"/>
              <a:tileRect/>
            </a:gradFill>
            <a:beve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70394F44-8D7D-CDF7-ED3F-45B48EFCDE3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03776" y="2829330"/>
            <a:ext cx="6190412" cy="3344459"/>
          </a:xfrm>
        </p:spPr>
        <p:txBody>
          <a:bodyPr anchor="t">
            <a:normAutofit/>
          </a:bodyPr>
          <a:lstStyle/>
          <a:p>
            <a:pPr marL="0" indent="0">
              <a:buNone/>
            </a:pPr>
            <a:r>
              <a:rPr lang="es-MX" sz="1700"/>
              <a:t>El alumno debe construir:</a:t>
            </a:r>
          </a:p>
          <a:p>
            <a:pPr marL="0" indent="0">
              <a:buNone/>
            </a:pPr>
            <a:r>
              <a:rPr lang="es-MX" sz="1700" b="1"/>
              <a:t>Una aplicación completa que pueda desarrollarse, probarse, integrarse, desplegarse y monitorearse automáticamente.</a:t>
            </a:r>
            <a:endParaRPr lang="es-MX" sz="1700"/>
          </a:p>
          <a:p>
            <a:pPr marL="0" indent="0">
              <a:buNone/>
            </a:pPr>
            <a:r>
              <a:rPr lang="es-MX" sz="1700"/>
              <a:t>Puede ser:</a:t>
            </a:r>
          </a:p>
          <a:p>
            <a:r>
              <a:rPr lang="es-MX" sz="1700"/>
              <a:t>📱 App móvil (ej. SwiftUI) </a:t>
            </a:r>
          </a:p>
          <a:p>
            <a:r>
              <a:rPr lang="es-MX" sz="1700"/>
              <a:t>🌐 Aplicación web </a:t>
            </a:r>
          </a:p>
          <a:p>
            <a:r>
              <a:rPr lang="es-MX" sz="1700"/>
              <a:t>🔧 API REST </a:t>
            </a:r>
          </a:p>
          <a:p>
            <a:r>
              <a:rPr lang="es-MX" sz="1700"/>
              <a:t>🛒 Sistema CRUD (muy recomendable) </a:t>
            </a:r>
          </a:p>
          <a:p>
            <a:r>
              <a:rPr lang="es-MX" sz="1700"/>
              <a:t>📊 Dashboard simple</a:t>
            </a:r>
          </a:p>
          <a:p>
            <a:endParaRPr lang="es-MX" sz="1700"/>
          </a:p>
        </p:txBody>
      </p:sp>
      <p:pic>
        <p:nvPicPr>
          <p:cNvPr id="7" name="Graphic 6" descr="Aula de clases">
            <a:extLst>
              <a:ext uri="{FF2B5EF4-FFF2-40B4-BE49-F238E27FC236}">
                <a16:creationId xmlns:a16="http://schemas.microsoft.com/office/drawing/2014/main" id="{ACE41768-9FC5-5E78-9087-4BC3450C54AC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7572653" y="1980885"/>
            <a:ext cx="3548404" cy="3548404"/>
          </a:xfrm>
          <a:prstGeom prst="rect">
            <a:avLst/>
          </a:prstGeom>
        </p:spPr>
      </p:pic>
      <p:sp>
        <p:nvSpPr>
          <p:cNvPr id="14" name="Graphic 11">
            <a:extLst>
              <a:ext uri="{FF2B5EF4-FFF2-40B4-BE49-F238E27FC236}">
                <a16:creationId xmlns:a16="http://schemas.microsoft.com/office/drawing/2014/main" id="{6CB927A4-E432-4310-9CD5-E89FF506317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924552" y="1899284"/>
            <a:ext cx="139039" cy="139039"/>
          </a:xfrm>
          <a:custGeom>
            <a:avLst/>
            <a:gdLst>
              <a:gd name="connsiteX0" fmla="*/ 129602 w 139039"/>
              <a:gd name="connsiteY0" fmla="*/ 60082 h 139039"/>
              <a:gd name="connsiteX1" fmla="*/ 78957 w 139039"/>
              <a:gd name="connsiteY1" fmla="*/ 60082 h 139039"/>
              <a:gd name="connsiteX2" fmla="*/ 78957 w 139039"/>
              <a:gd name="connsiteY2" fmla="*/ 9437 h 139039"/>
              <a:gd name="connsiteX3" fmla="*/ 69520 w 139039"/>
              <a:gd name="connsiteY3" fmla="*/ 0 h 139039"/>
              <a:gd name="connsiteX4" fmla="*/ 60082 w 139039"/>
              <a:gd name="connsiteY4" fmla="*/ 9437 h 139039"/>
              <a:gd name="connsiteX5" fmla="*/ 60082 w 139039"/>
              <a:gd name="connsiteY5" fmla="*/ 60082 h 139039"/>
              <a:gd name="connsiteX6" fmla="*/ 9437 w 139039"/>
              <a:gd name="connsiteY6" fmla="*/ 60082 h 139039"/>
              <a:gd name="connsiteX7" fmla="*/ 0 w 139039"/>
              <a:gd name="connsiteY7" fmla="*/ 69520 h 139039"/>
              <a:gd name="connsiteX8" fmla="*/ 9437 w 139039"/>
              <a:gd name="connsiteY8" fmla="*/ 78957 h 139039"/>
              <a:gd name="connsiteX9" fmla="*/ 60082 w 139039"/>
              <a:gd name="connsiteY9" fmla="*/ 78957 h 139039"/>
              <a:gd name="connsiteX10" fmla="*/ 60082 w 139039"/>
              <a:gd name="connsiteY10" fmla="*/ 129602 h 139039"/>
              <a:gd name="connsiteX11" fmla="*/ 69520 w 139039"/>
              <a:gd name="connsiteY11" fmla="*/ 139039 h 139039"/>
              <a:gd name="connsiteX12" fmla="*/ 78957 w 139039"/>
              <a:gd name="connsiteY12" fmla="*/ 129602 h 139039"/>
              <a:gd name="connsiteX13" fmla="*/ 78957 w 139039"/>
              <a:gd name="connsiteY13" fmla="*/ 78957 h 139039"/>
              <a:gd name="connsiteX14" fmla="*/ 129602 w 139039"/>
              <a:gd name="connsiteY14" fmla="*/ 78957 h 139039"/>
              <a:gd name="connsiteX15" fmla="*/ 139039 w 139039"/>
              <a:gd name="connsiteY15" fmla="*/ 69520 h 139039"/>
              <a:gd name="connsiteX16" fmla="*/ 129602 w 139039"/>
              <a:gd name="connsiteY16" fmla="*/ 60082 h 1390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139039" h="139039">
                <a:moveTo>
                  <a:pt x="129602" y="60082"/>
                </a:moveTo>
                <a:lnTo>
                  <a:pt x="78957" y="60082"/>
                </a:lnTo>
                <a:lnTo>
                  <a:pt x="78957" y="9437"/>
                </a:lnTo>
                <a:cubicBezTo>
                  <a:pt x="78957" y="4225"/>
                  <a:pt x="74731" y="0"/>
                  <a:pt x="69520" y="0"/>
                </a:cubicBezTo>
                <a:cubicBezTo>
                  <a:pt x="64308" y="0"/>
                  <a:pt x="60082" y="4225"/>
                  <a:pt x="60082" y="9437"/>
                </a:cubicBezTo>
                <a:lnTo>
                  <a:pt x="60082" y="60082"/>
                </a:lnTo>
                <a:lnTo>
                  <a:pt x="9437" y="60082"/>
                </a:lnTo>
                <a:cubicBezTo>
                  <a:pt x="4225" y="60082"/>
                  <a:pt x="0" y="64308"/>
                  <a:pt x="0" y="69520"/>
                </a:cubicBezTo>
                <a:cubicBezTo>
                  <a:pt x="0" y="74731"/>
                  <a:pt x="4225" y="78957"/>
                  <a:pt x="9437" y="78957"/>
                </a:cubicBezTo>
                <a:lnTo>
                  <a:pt x="60082" y="78957"/>
                </a:lnTo>
                <a:lnTo>
                  <a:pt x="60082" y="129602"/>
                </a:lnTo>
                <a:cubicBezTo>
                  <a:pt x="60082" y="134814"/>
                  <a:pt x="64308" y="139039"/>
                  <a:pt x="69520" y="139039"/>
                </a:cubicBezTo>
                <a:cubicBezTo>
                  <a:pt x="74731" y="139039"/>
                  <a:pt x="78957" y="134814"/>
                  <a:pt x="78957" y="129602"/>
                </a:cubicBezTo>
                <a:lnTo>
                  <a:pt x="78957" y="78957"/>
                </a:lnTo>
                <a:lnTo>
                  <a:pt x="129602" y="78957"/>
                </a:lnTo>
                <a:cubicBezTo>
                  <a:pt x="134814" y="78957"/>
                  <a:pt x="139039" y="74731"/>
                  <a:pt x="139039" y="69520"/>
                </a:cubicBezTo>
                <a:cubicBezTo>
                  <a:pt x="139039" y="64308"/>
                  <a:pt x="134814" y="60082"/>
                  <a:pt x="129602" y="60082"/>
                </a:cubicBezTo>
                <a:close/>
              </a:path>
            </a:pathLst>
          </a:custGeom>
          <a:solidFill>
            <a:schemeClr val="accent2"/>
          </a:solidFill>
          <a:ln w="603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6" name="Graphic 10">
            <a:extLst>
              <a:ext uri="{FF2B5EF4-FFF2-40B4-BE49-F238E27FC236}">
                <a16:creationId xmlns:a16="http://schemas.microsoft.com/office/drawing/2014/main" id="{E3020543-B24B-4EC4-8FFC-8DD88EEA91A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1236862" y="2189928"/>
            <a:ext cx="91138" cy="91138"/>
          </a:xfrm>
          <a:custGeom>
            <a:avLst/>
            <a:gdLst>
              <a:gd name="connsiteX0" fmla="*/ 91138 w 91138"/>
              <a:gd name="connsiteY0" fmla="*/ 45569 h 91138"/>
              <a:gd name="connsiteX1" fmla="*/ 45569 w 91138"/>
              <a:gd name="connsiteY1" fmla="*/ 91138 h 91138"/>
              <a:gd name="connsiteX2" fmla="*/ 0 w 91138"/>
              <a:gd name="connsiteY2" fmla="*/ 45569 h 91138"/>
              <a:gd name="connsiteX3" fmla="*/ 45569 w 91138"/>
              <a:gd name="connsiteY3" fmla="*/ 0 h 91138"/>
              <a:gd name="connsiteX4" fmla="*/ 91138 w 91138"/>
              <a:gd name="connsiteY4" fmla="*/ 45569 h 9113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91138" h="91138">
                <a:moveTo>
                  <a:pt x="91138" y="45569"/>
                </a:moveTo>
                <a:cubicBezTo>
                  <a:pt x="91138" y="70736"/>
                  <a:pt x="70736" y="91138"/>
                  <a:pt x="45569" y="91138"/>
                </a:cubicBezTo>
                <a:cubicBezTo>
                  <a:pt x="20402" y="91138"/>
                  <a:pt x="0" y="70736"/>
                  <a:pt x="0" y="45569"/>
                </a:cubicBezTo>
                <a:cubicBezTo>
                  <a:pt x="0" y="20402"/>
                  <a:pt x="20402" y="0"/>
                  <a:pt x="45569" y="0"/>
                </a:cubicBezTo>
                <a:cubicBezTo>
                  <a:pt x="70736" y="0"/>
                  <a:pt x="91138" y="20402"/>
                  <a:pt x="91138" y="45569"/>
                </a:cubicBezTo>
                <a:close/>
              </a:path>
            </a:pathLst>
          </a:custGeom>
          <a:solidFill>
            <a:schemeClr val="accent2"/>
          </a:solidFill>
          <a:ln w="422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3614062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327D73B4-9F5C-4A64-A179-51B9500CB8B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C1F06963-6374-4B48-844F-071A9BAAAE0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99528" y="554152"/>
            <a:ext cx="5742189" cy="5742189"/>
          </a:xfrm>
          <a:prstGeom prst="ellipse">
            <a:avLst/>
          </a:prstGeom>
          <a:gradFill flip="none" rotWithShape="1">
            <a:gsLst>
              <a:gs pos="100000">
                <a:schemeClr val="accent4"/>
              </a:gs>
              <a:gs pos="0">
                <a:schemeClr val="accent2"/>
              </a:gs>
            </a:gsLst>
            <a:lin ang="27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85EA7A8D-7564-AE45-6486-CBC7449080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45072" y="1289765"/>
            <a:ext cx="3651101" cy="4270963"/>
          </a:xfrm>
        </p:spPr>
        <p:txBody>
          <a:bodyPr anchor="ctr">
            <a:normAutofit/>
          </a:bodyPr>
          <a:lstStyle/>
          <a:p>
            <a:pPr algn="ctr"/>
            <a:r>
              <a:rPr lang="es-MX" sz="3600" dirty="0">
                <a:solidFill>
                  <a:schemeClr val="bg1"/>
                </a:solidFill>
              </a:rPr>
              <a:t>Fase 1 — Definir el Proyecto (Inicio obligatorio)</a:t>
            </a:r>
          </a:p>
        </p:txBody>
      </p:sp>
      <p:sp>
        <p:nvSpPr>
          <p:cNvPr id="12" name="Graphic 11">
            <a:extLst>
              <a:ext uri="{FF2B5EF4-FFF2-40B4-BE49-F238E27FC236}">
                <a16:creationId xmlns:a16="http://schemas.microsoft.com/office/drawing/2014/main" id="{6CB927A4-E432-4310-9CD5-E89FF506317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123493" y="374394"/>
            <a:ext cx="171515" cy="171515"/>
          </a:xfrm>
          <a:custGeom>
            <a:avLst/>
            <a:gdLst>
              <a:gd name="connsiteX0" fmla="*/ 159874 w 171515"/>
              <a:gd name="connsiteY0" fmla="*/ 74116 h 171515"/>
              <a:gd name="connsiteX1" fmla="*/ 97399 w 171515"/>
              <a:gd name="connsiteY1" fmla="*/ 74116 h 171515"/>
              <a:gd name="connsiteX2" fmla="*/ 97399 w 171515"/>
              <a:gd name="connsiteY2" fmla="*/ 11641 h 171515"/>
              <a:gd name="connsiteX3" fmla="*/ 85758 w 171515"/>
              <a:gd name="connsiteY3" fmla="*/ 0 h 171515"/>
              <a:gd name="connsiteX4" fmla="*/ 74116 w 171515"/>
              <a:gd name="connsiteY4" fmla="*/ 11641 h 171515"/>
              <a:gd name="connsiteX5" fmla="*/ 74116 w 171515"/>
              <a:gd name="connsiteY5" fmla="*/ 74116 h 171515"/>
              <a:gd name="connsiteX6" fmla="*/ 11641 w 171515"/>
              <a:gd name="connsiteY6" fmla="*/ 74116 h 171515"/>
              <a:gd name="connsiteX7" fmla="*/ 0 w 171515"/>
              <a:gd name="connsiteY7" fmla="*/ 85758 h 171515"/>
              <a:gd name="connsiteX8" fmla="*/ 11641 w 171515"/>
              <a:gd name="connsiteY8" fmla="*/ 97399 h 171515"/>
              <a:gd name="connsiteX9" fmla="*/ 74116 w 171515"/>
              <a:gd name="connsiteY9" fmla="*/ 97399 h 171515"/>
              <a:gd name="connsiteX10" fmla="*/ 74116 w 171515"/>
              <a:gd name="connsiteY10" fmla="*/ 159874 h 171515"/>
              <a:gd name="connsiteX11" fmla="*/ 85758 w 171515"/>
              <a:gd name="connsiteY11" fmla="*/ 171515 h 171515"/>
              <a:gd name="connsiteX12" fmla="*/ 97399 w 171515"/>
              <a:gd name="connsiteY12" fmla="*/ 159874 h 171515"/>
              <a:gd name="connsiteX13" fmla="*/ 97399 w 171515"/>
              <a:gd name="connsiteY13" fmla="*/ 97399 h 171515"/>
              <a:gd name="connsiteX14" fmla="*/ 159874 w 171515"/>
              <a:gd name="connsiteY14" fmla="*/ 97399 h 171515"/>
              <a:gd name="connsiteX15" fmla="*/ 171515 w 171515"/>
              <a:gd name="connsiteY15" fmla="*/ 85758 h 171515"/>
              <a:gd name="connsiteX16" fmla="*/ 159874 w 171515"/>
              <a:gd name="connsiteY16" fmla="*/ 74116 h 17151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171515" h="171515">
                <a:moveTo>
                  <a:pt x="159874" y="74116"/>
                </a:moveTo>
                <a:lnTo>
                  <a:pt x="97399" y="74116"/>
                </a:lnTo>
                <a:lnTo>
                  <a:pt x="97399" y="11641"/>
                </a:lnTo>
                <a:cubicBezTo>
                  <a:pt x="97399" y="5212"/>
                  <a:pt x="92187" y="0"/>
                  <a:pt x="85758" y="0"/>
                </a:cubicBezTo>
                <a:cubicBezTo>
                  <a:pt x="79328" y="0"/>
                  <a:pt x="74116" y="5212"/>
                  <a:pt x="74116" y="11641"/>
                </a:cubicBezTo>
                <a:lnTo>
                  <a:pt x="74116" y="74116"/>
                </a:lnTo>
                <a:lnTo>
                  <a:pt x="11641" y="74116"/>
                </a:lnTo>
                <a:cubicBezTo>
                  <a:pt x="5212" y="74116"/>
                  <a:pt x="0" y="79328"/>
                  <a:pt x="0" y="85758"/>
                </a:cubicBezTo>
                <a:cubicBezTo>
                  <a:pt x="0" y="92187"/>
                  <a:pt x="5212" y="97399"/>
                  <a:pt x="11641" y="97399"/>
                </a:cubicBezTo>
                <a:lnTo>
                  <a:pt x="74116" y="97399"/>
                </a:lnTo>
                <a:lnTo>
                  <a:pt x="74116" y="159874"/>
                </a:lnTo>
                <a:cubicBezTo>
                  <a:pt x="74116" y="166303"/>
                  <a:pt x="79328" y="171515"/>
                  <a:pt x="85758" y="171515"/>
                </a:cubicBezTo>
                <a:cubicBezTo>
                  <a:pt x="92187" y="171515"/>
                  <a:pt x="97399" y="166303"/>
                  <a:pt x="97399" y="159874"/>
                </a:cubicBezTo>
                <a:lnTo>
                  <a:pt x="97399" y="97399"/>
                </a:lnTo>
                <a:lnTo>
                  <a:pt x="159874" y="97399"/>
                </a:lnTo>
                <a:cubicBezTo>
                  <a:pt x="166303" y="97399"/>
                  <a:pt x="171515" y="92187"/>
                  <a:pt x="171515" y="85758"/>
                </a:cubicBezTo>
                <a:cubicBezTo>
                  <a:pt x="171515" y="79328"/>
                  <a:pt x="166303" y="74116"/>
                  <a:pt x="159874" y="74116"/>
                </a:cubicBezTo>
                <a:close/>
              </a:path>
            </a:pathLst>
          </a:custGeom>
          <a:solidFill>
            <a:schemeClr val="accent2"/>
          </a:solidFill>
          <a:ln w="776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4" name="Graphic 12">
            <a:extLst>
              <a:ext uri="{FF2B5EF4-FFF2-40B4-BE49-F238E27FC236}">
                <a16:creationId xmlns:a16="http://schemas.microsoft.com/office/drawing/2014/main" id="{1453BF6C-B012-48B7-B4E8-6D7AC7C27D0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50109" y="1084507"/>
            <a:ext cx="157545" cy="157545"/>
          </a:xfrm>
          <a:custGeom>
            <a:avLst/>
            <a:gdLst>
              <a:gd name="connsiteX0" fmla="*/ 78773 w 157545"/>
              <a:gd name="connsiteY0" fmla="*/ 23283 h 157545"/>
              <a:gd name="connsiteX1" fmla="*/ 134262 w 157545"/>
              <a:gd name="connsiteY1" fmla="*/ 78773 h 157545"/>
              <a:gd name="connsiteX2" fmla="*/ 78773 w 157545"/>
              <a:gd name="connsiteY2" fmla="*/ 134262 h 157545"/>
              <a:gd name="connsiteX3" fmla="*/ 23283 w 157545"/>
              <a:gd name="connsiteY3" fmla="*/ 78773 h 157545"/>
              <a:gd name="connsiteX4" fmla="*/ 78773 w 157545"/>
              <a:gd name="connsiteY4" fmla="*/ 23283 h 157545"/>
              <a:gd name="connsiteX5" fmla="*/ 78773 w 157545"/>
              <a:gd name="connsiteY5" fmla="*/ 0 h 157545"/>
              <a:gd name="connsiteX6" fmla="*/ 0 w 157545"/>
              <a:gd name="connsiteY6" fmla="*/ 78773 h 157545"/>
              <a:gd name="connsiteX7" fmla="*/ 78773 w 157545"/>
              <a:gd name="connsiteY7" fmla="*/ 157545 h 157545"/>
              <a:gd name="connsiteX8" fmla="*/ 157545 w 157545"/>
              <a:gd name="connsiteY8" fmla="*/ 78773 h 157545"/>
              <a:gd name="connsiteX9" fmla="*/ 78773 w 157545"/>
              <a:gd name="connsiteY9" fmla="*/ 0 h 15754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157545" h="157545">
                <a:moveTo>
                  <a:pt x="78773" y="23283"/>
                </a:moveTo>
                <a:cubicBezTo>
                  <a:pt x="109419" y="23283"/>
                  <a:pt x="134262" y="48126"/>
                  <a:pt x="134262" y="78773"/>
                </a:cubicBezTo>
                <a:cubicBezTo>
                  <a:pt x="134262" y="109419"/>
                  <a:pt x="109419" y="134262"/>
                  <a:pt x="78773" y="134262"/>
                </a:cubicBezTo>
                <a:cubicBezTo>
                  <a:pt x="48126" y="134262"/>
                  <a:pt x="23283" y="109419"/>
                  <a:pt x="23283" y="78773"/>
                </a:cubicBezTo>
                <a:cubicBezTo>
                  <a:pt x="23312" y="48139"/>
                  <a:pt x="48139" y="23312"/>
                  <a:pt x="78773" y="23283"/>
                </a:cubicBezTo>
                <a:moveTo>
                  <a:pt x="78773" y="0"/>
                </a:moveTo>
                <a:cubicBezTo>
                  <a:pt x="35268" y="0"/>
                  <a:pt x="0" y="35268"/>
                  <a:pt x="0" y="78773"/>
                </a:cubicBezTo>
                <a:cubicBezTo>
                  <a:pt x="0" y="122277"/>
                  <a:pt x="35268" y="157545"/>
                  <a:pt x="78773" y="157545"/>
                </a:cubicBezTo>
                <a:cubicBezTo>
                  <a:pt x="122277" y="157545"/>
                  <a:pt x="157545" y="122277"/>
                  <a:pt x="157545" y="78773"/>
                </a:cubicBezTo>
                <a:cubicBezTo>
                  <a:pt x="157545" y="35268"/>
                  <a:pt x="122277" y="0"/>
                  <a:pt x="78773" y="0"/>
                </a:cubicBezTo>
                <a:close/>
              </a:path>
            </a:pathLst>
          </a:custGeom>
          <a:solidFill>
            <a:schemeClr val="accent2"/>
          </a:solidFill>
          <a:ln w="751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6AE8DCF3-95C6-262E-8697-1D5A297BCDC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397039" y="381935"/>
            <a:ext cx="4685916" cy="5974415"/>
          </a:xfrm>
        </p:spPr>
        <p:txBody>
          <a:bodyPr anchor="ctr">
            <a:normAutofit/>
          </a:bodyPr>
          <a:lstStyle/>
          <a:p>
            <a:pPr marL="0" indent="0">
              <a:buNone/>
            </a:pPr>
            <a:r>
              <a:rPr lang="es-MX" sz="1800" b="1"/>
              <a:t>📄 Documento: Definición del Proyecto</a:t>
            </a:r>
          </a:p>
          <a:p>
            <a:pPr marL="0" indent="0">
              <a:buNone/>
            </a:pPr>
            <a:r>
              <a:rPr lang="es-MX" sz="1800"/>
              <a:t>Debe incluir:</a:t>
            </a:r>
          </a:p>
          <a:p>
            <a:pPr marL="0" indent="0">
              <a:buNone/>
            </a:pPr>
            <a:r>
              <a:rPr lang="es-MX" sz="1800" b="1"/>
              <a:t> Nombre del proyecto</a:t>
            </a:r>
          </a:p>
          <a:p>
            <a:pPr marL="0" indent="0">
              <a:buNone/>
            </a:pPr>
            <a:r>
              <a:rPr lang="es-MX" sz="1800"/>
              <a:t>Ejemplo:</a:t>
            </a:r>
          </a:p>
          <a:p>
            <a:r>
              <a:rPr lang="es-MX" sz="1800"/>
              <a:t>TaskManager DevOps </a:t>
            </a:r>
          </a:p>
          <a:p>
            <a:r>
              <a:rPr lang="es-MX" sz="1800"/>
              <a:t>Control de Inventarios </a:t>
            </a:r>
          </a:p>
          <a:p>
            <a:r>
              <a:rPr lang="es-MX" sz="1800"/>
              <a:t>Sistema de Usuarios</a:t>
            </a:r>
          </a:p>
          <a:p>
            <a:endParaRPr lang="es-MX" sz="1800"/>
          </a:p>
        </p:txBody>
      </p:sp>
      <p:sp>
        <p:nvSpPr>
          <p:cNvPr id="16" name="Graphic 10">
            <a:extLst>
              <a:ext uri="{FF2B5EF4-FFF2-40B4-BE49-F238E27FC236}">
                <a16:creationId xmlns:a16="http://schemas.microsoft.com/office/drawing/2014/main" id="{E3020543-B24B-4EC4-8FFC-8DD88EEA91A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436547" y="5751820"/>
            <a:ext cx="112426" cy="112426"/>
          </a:xfrm>
          <a:custGeom>
            <a:avLst/>
            <a:gdLst>
              <a:gd name="connsiteX0" fmla="*/ 112426 w 112426"/>
              <a:gd name="connsiteY0" fmla="*/ 56213 h 112426"/>
              <a:gd name="connsiteX1" fmla="*/ 56213 w 112426"/>
              <a:gd name="connsiteY1" fmla="*/ 112426 h 112426"/>
              <a:gd name="connsiteX2" fmla="*/ 0 w 112426"/>
              <a:gd name="connsiteY2" fmla="*/ 56213 h 112426"/>
              <a:gd name="connsiteX3" fmla="*/ 56213 w 112426"/>
              <a:gd name="connsiteY3" fmla="*/ 0 h 112426"/>
              <a:gd name="connsiteX4" fmla="*/ 112426 w 112426"/>
              <a:gd name="connsiteY4" fmla="*/ 56213 h 11242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12426" h="112426">
                <a:moveTo>
                  <a:pt x="112426" y="56213"/>
                </a:moveTo>
                <a:cubicBezTo>
                  <a:pt x="112426" y="87259"/>
                  <a:pt x="87259" y="112426"/>
                  <a:pt x="56213" y="112426"/>
                </a:cubicBezTo>
                <a:cubicBezTo>
                  <a:pt x="25167" y="112426"/>
                  <a:pt x="0" y="87259"/>
                  <a:pt x="0" y="56213"/>
                </a:cubicBezTo>
                <a:cubicBezTo>
                  <a:pt x="0" y="25167"/>
                  <a:pt x="25167" y="0"/>
                  <a:pt x="56213" y="0"/>
                </a:cubicBezTo>
                <a:cubicBezTo>
                  <a:pt x="87259" y="0"/>
                  <a:pt x="112426" y="25167"/>
                  <a:pt x="112426" y="56213"/>
                </a:cubicBezTo>
                <a:close/>
              </a:path>
            </a:pathLst>
          </a:custGeom>
          <a:solidFill>
            <a:schemeClr val="accent2"/>
          </a:solidFill>
          <a:ln w="516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C49DA8F6-BCC1-4447-B54C-57856834B94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11586162" y="3610394"/>
            <a:ext cx="0" cy="3238728"/>
          </a:xfrm>
          <a:prstGeom prst="line">
            <a:avLst/>
          </a:prstGeom>
          <a:ln w="25400" cap="sq">
            <a:gradFill flip="none" rotWithShape="1">
              <a:gsLst>
                <a:gs pos="0">
                  <a:schemeClr val="accent2"/>
                </a:gs>
                <a:gs pos="100000">
                  <a:schemeClr val="accent4"/>
                </a:gs>
              </a:gsLst>
              <a:lin ang="5400000" scaled="1"/>
              <a:tileRect/>
            </a:gradFill>
            <a:beve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64093577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327D73B4-9F5C-4A64-A179-51B9500CB8B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C1F06963-6374-4B48-844F-071A9BAAAE0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99528" y="554152"/>
            <a:ext cx="5742189" cy="5742189"/>
          </a:xfrm>
          <a:prstGeom prst="ellipse">
            <a:avLst/>
          </a:prstGeom>
          <a:gradFill flip="none" rotWithShape="1">
            <a:gsLst>
              <a:gs pos="100000">
                <a:schemeClr val="accent4"/>
              </a:gs>
              <a:gs pos="0">
                <a:schemeClr val="accent2"/>
              </a:gs>
            </a:gsLst>
            <a:lin ang="27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DCCAAA42-2FE7-E8DD-CEA1-FC015E8ACA1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45072" y="1289765"/>
            <a:ext cx="3651101" cy="4270963"/>
          </a:xfrm>
        </p:spPr>
        <p:txBody>
          <a:bodyPr anchor="ctr">
            <a:normAutofit/>
          </a:bodyPr>
          <a:lstStyle/>
          <a:p>
            <a:pPr algn="ctr"/>
            <a:r>
              <a:rPr lang="es-MX" sz="2400" b="1" dirty="0">
                <a:solidFill>
                  <a:schemeClr val="bg1"/>
                </a:solidFill>
              </a:rPr>
              <a:t>2.-Descripción del problema</a:t>
            </a:r>
            <a:br>
              <a:rPr lang="es-MX" sz="2400" b="1" dirty="0">
                <a:solidFill>
                  <a:schemeClr val="bg1"/>
                </a:solidFill>
              </a:rPr>
            </a:br>
            <a:endParaRPr lang="es-MX" sz="2400" dirty="0">
              <a:solidFill>
                <a:schemeClr val="bg1"/>
              </a:solidFill>
            </a:endParaRPr>
          </a:p>
        </p:txBody>
      </p:sp>
      <p:sp>
        <p:nvSpPr>
          <p:cNvPr id="12" name="Graphic 11">
            <a:extLst>
              <a:ext uri="{FF2B5EF4-FFF2-40B4-BE49-F238E27FC236}">
                <a16:creationId xmlns:a16="http://schemas.microsoft.com/office/drawing/2014/main" id="{6CB927A4-E432-4310-9CD5-E89FF506317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123493" y="374394"/>
            <a:ext cx="171515" cy="171515"/>
          </a:xfrm>
          <a:custGeom>
            <a:avLst/>
            <a:gdLst>
              <a:gd name="connsiteX0" fmla="*/ 159874 w 171515"/>
              <a:gd name="connsiteY0" fmla="*/ 74116 h 171515"/>
              <a:gd name="connsiteX1" fmla="*/ 97399 w 171515"/>
              <a:gd name="connsiteY1" fmla="*/ 74116 h 171515"/>
              <a:gd name="connsiteX2" fmla="*/ 97399 w 171515"/>
              <a:gd name="connsiteY2" fmla="*/ 11641 h 171515"/>
              <a:gd name="connsiteX3" fmla="*/ 85758 w 171515"/>
              <a:gd name="connsiteY3" fmla="*/ 0 h 171515"/>
              <a:gd name="connsiteX4" fmla="*/ 74116 w 171515"/>
              <a:gd name="connsiteY4" fmla="*/ 11641 h 171515"/>
              <a:gd name="connsiteX5" fmla="*/ 74116 w 171515"/>
              <a:gd name="connsiteY5" fmla="*/ 74116 h 171515"/>
              <a:gd name="connsiteX6" fmla="*/ 11641 w 171515"/>
              <a:gd name="connsiteY6" fmla="*/ 74116 h 171515"/>
              <a:gd name="connsiteX7" fmla="*/ 0 w 171515"/>
              <a:gd name="connsiteY7" fmla="*/ 85758 h 171515"/>
              <a:gd name="connsiteX8" fmla="*/ 11641 w 171515"/>
              <a:gd name="connsiteY8" fmla="*/ 97399 h 171515"/>
              <a:gd name="connsiteX9" fmla="*/ 74116 w 171515"/>
              <a:gd name="connsiteY9" fmla="*/ 97399 h 171515"/>
              <a:gd name="connsiteX10" fmla="*/ 74116 w 171515"/>
              <a:gd name="connsiteY10" fmla="*/ 159874 h 171515"/>
              <a:gd name="connsiteX11" fmla="*/ 85758 w 171515"/>
              <a:gd name="connsiteY11" fmla="*/ 171515 h 171515"/>
              <a:gd name="connsiteX12" fmla="*/ 97399 w 171515"/>
              <a:gd name="connsiteY12" fmla="*/ 159874 h 171515"/>
              <a:gd name="connsiteX13" fmla="*/ 97399 w 171515"/>
              <a:gd name="connsiteY13" fmla="*/ 97399 h 171515"/>
              <a:gd name="connsiteX14" fmla="*/ 159874 w 171515"/>
              <a:gd name="connsiteY14" fmla="*/ 97399 h 171515"/>
              <a:gd name="connsiteX15" fmla="*/ 171515 w 171515"/>
              <a:gd name="connsiteY15" fmla="*/ 85758 h 171515"/>
              <a:gd name="connsiteX16" fmla="*/ 159874 w 171515"/>
              <a:gd name="connsiteY16" fmla="*/ 74116 h 17151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171515" h="171515">
                <a:moveTo>
                  <a:pt x="159874" y="74116"/>
                </a:moveTo>
                <a:lnTo>
                  <a:pt x="97399" y="74116"/>
                </a:lnTo>
                <a:lnTo>
                  <a:pt x="97399" y="11641"/>
                </a:lnTo>
                <a:cubicBezTo>
                  <a:pt x="97399" y="5212"/>
                  <a:pt x="92187" y="0"/>
                  <a:pt x="85758" y="0"/>
                </a:cubicBezTo>
                <a:cubicBezTo>
                  <a:pt x="79328" y="0"/>
                  <a:pt x="74116" y="5212"/>
                  <a:pt x="74116" y="11641"/>
                </a:cubicBezTo>
                <a:lnTo>
                  <a:pt x="74116" y="74116"/>
                </a:lnTo>
                <a:lnTo>
                  <a:pt x="11641" y="74116"/>
                </a:lnTo>
                <a:cubicBezTo>
                  <a:pt x="5212" y="74116"/>
                  <a:pt x="0" y="79328"/>
                  <a:pt x="0" y="85758"/>
                </a:cubicBezTo>
                <a:cubicBezTo>
                  <a:pt x="0" y="92187"/>
                  <a:pt x="5212" y="97399"/>
                  <a:pt x="11641" y="97399"/>
                </a:cubicBezTo>
                <a:lnTo>
                  <a:pt x="74116" y="97399"/>
                </a:lnTo>
                <a:lnTo>
                  <a:pt x="74116" y="159874"/>
                </a:lnTo>
                <a:cubicBezTo>
                  <a:pt x="74116" y="166303"/>
                  <a:pt x="79328" y="171515"/>
                  <a:pt x="85758" y="171515"/>
                </a:cubicBezTo>
                <a:cubicBezTo>
                  <a:pt x="92187" y="171515"/>
                  <a:pt x="97399" y="166303"/>
                  <a:pt x="97399" y="159874"/>
                </a:cubicBezTo>
                <a:lnTo>
                  <a:pt x="97399" y="97399"/>
                </a:lnTo>
                <a:lnTo>
                  <a:pt x="159874" y="97399"/>
                </a:lnTo>
                <a:cubicBezTo>
                  <a:pt x="166303" y="97399"/>
                  <a:pt x="171515" y="92187"/>
                  <a:pt x="171515" y="85758"/>
                </a:cubicBezTo>
                <a:cubicBezTo>
                  <a:pt x="171515" y="79328"/>
                  <a:pt x="166303" y="74116"/>
                  <a:pt x="159874" y="74116"/>
                </a:cubicBezTo>
                <a:close/>
              </a:path>
            </a:pathLst>
          </a:custGeom>
          <a:solidFill>
            <a:schemeClr val="accent2"/>
          </a:solidFill>
          <a:ln w="776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4" name="Graphic 12">
            <a:extLst>
              <a:ext uri="{FF2B5EF4-FFF2-40B4-BE49-F238E27FC236}">
                <a16:creationId xmlns:a16="http://schemas.microsoft.com/office/drawing/2014/main" id="{1453BF6C-B012-48B7-B4E8-6D7AC7C27D0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50109" y="1084507"/>
            <a:ext cx="157545" cy="157545"/>
          </a:xfrm>
          <a:custGeom>
            <a:avLst/>
            <a:gdLst>
              <a:gd name="connsiteX0" fmla="*/ 78773 w 157545"/>
              <a:gd name="connsiteY0" fmla="*/ 23283 h 157545"/>
              <a:gd name="connsiteX1" fmla="*/ 134262 w 157545"/>
              <a:gd name="connsiteY1" fmla="*/ 78773 h 157545"/>
              <a:gd name="connsiteX2" fmla="*/ 78773 w 157545"/>
              <a:gd name="connsiteY2" fmla="*/ 134262 h 157545"/>
              <a:gd name="connsiteX3" fmla="*/ 23283 w 157545"/>
              <a:gd name="connsiteY3" fmla="*/ 78773 h 157545"/>
              <a:gd name="connsiteX4" fmla="*/ 78773 w 157545"/>
              <a:gd name="connsiteY4" fmla="*/ 23283 h 157545"/>
              <a:gd name="connsiteX5" fmla="*/ 78773 w 157545"/>
              <a:gd name="connsiteY5" fmla="*/ 0 h 157545"/>
              <a:gd name="connsiteX6" fmla="*/ 0 w 157545"/>
              <a:gd name="connsiteY6" fmla="*/ 78773 h 157545"/>
              <a:gd name="connsiteX7" fmla="*/ 78773 w 157545"/>
              <a:gd name="connsiteY7" fmla="*/ 157545 h 157545"/>
              <a:gd name="connsiteX8" fmla="*/ 157545 w 157545"/>
              <a:gd name="connsiteY8" fmla="*/ 78773 h 157545"/>
              <a:gd name="connsiteX9" fmla="*/ 78773 w 157545"/>
              <a:gd name="connsiteY9" fmla="*/ 0 h 15754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157545" h="157545">
                <a:moveTo>
                  <a:pt x="78773" y="23283"/>
                </a:moveTo>
                <a:cubicBezTo>
                  <a:pt x="109419" y="23283"/>
                  <a:pt x="134262" y="48126"/>
                  <a:pt x="134262" y="78773"/>
                </a:cubicBezTo>
                <a:cubicBezTo>
                  <a:pt x="134262" y="109419"/>
                  <a:pt x="109419" y="134262"/>
                  <a:pt x="78773" y="134262"/>
                </a:cubicBezTo>
                <a:cubicBezTo>
                  <a:pt x="48126" y="134262"/>
                  <a:pt x="23283" y="109419"/>
                  <a:pt x="23283" y="78773"/>
                </a:cubicBezTo>
                <a:cubicBezTo>
                  <a:pt x="23312" y="48139"/>
                  <a:pt x="48139" y="23312"/>
                  <a:pt x="78773" y="23283"/>
                </a:cubicBezTo>
                <a:moveTo>
                  <a:pt x="78773" y="0"/>
                </a:moveTo>
                <a:cubicBezTo>
                  <a:pt x="35268" y="0"/>
                  <a:pt x="0" y="35268"/>
                  <a:pt x="0" y="78773"/>
                </a:cubicBezTo>
                <a:cubicBezTo>
                  <a:pt x="0" y="122277"/>
                  <a:pt x="35268" y="157545"/>
                  <a:pt x="78773" y="157545"/>
                </a:cubicBezTo>
                <a:cubicBezTo>
                  <a:pt x="122277" y="157545"/>
                  <a:pt x="157545" y="122277"/>
                  <a:pt x="157545" y="78773"/>
                </a:cubicBezTo>
                <a:cubicBezTo>
                  <a:pt x="157545" y="35268"/>
                  <a:pt x="122277" y="0"/>
                  <a:pt x="78773" y="0"/>
                </a:cubicBezTo>
                <a:close/>
              </a:path>
            </a:pathLst>
          </a:custGeom>
          <a:solidFill>
            <a:schemeClr val="accent2"/>
          </a:solidFill>
          <a:ln w="751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7B7CE536-85A1-8F1A-ABF2-647EF4C1646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397039" y="381935"/>
            <a:ext cx="4685916" cy="5974415"/>
          </a:xfrm>
        </p:spPr>
        <p:txBody>
          <a:bodyPr anchor="ctr">
            <a:normAutofit/>
          </a:bodyPr>
          <a:lstStyle/>
          <a:p>
            <a:pPr marL="0" indent="0">
              <a:buNone/>
            </a:pPr>
            <a:r>
              <a:rPr lang="es-MX" sz="1800" dirty="0"/>
              <a:t>Actualmente no existe un sistema simple para gestionar tareas personales desde dispositivos móviles.</a:t>
            </a:r>
          </a:p>
          <a:p>
            <a:endParaRPr lang="es-MX" sz="1800" dirty="0"/>
          </a:p>
        </p:txBody>
      </p:sp>
      <p:sp>
        <p:nvSpPr>
          <p:cNvPr id="16" name="Graphic 10">
            <a:extLst>
              <a:ext uri="{FF2B5EF4-FFF2-40B4-BE49-F238E27FC236}">
                <a16:creationId xmlns:a16="http://schemas.microsoft.com/office/drawing/2014/main" id="{E3020543-B24B-4EC4-8FFC-8DD88EEA91A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436547" y="5751820"/>
            <a:ext cx="112426" cy="112426"/>
          </a:xfrm>
          <a:custGeom>
            <a:avLst/>
            <a:gdLst>
              <a:gd name="connsiteX0" fmla="*/ 112426 w 112426"/>
              <a:gd name="connsiteY0" fmla="*/ 56213 h 112426"/>
              <a:gd name="connsiteX1" fmla="*/ 56213 w 112426"/>
              <a:gd name="connsiteY1" fmla="*/ 112426 h 112426"/>
              <a:gd name="connsiteX2" fmla="*/ 0 w 112426"/>
              <a:gd name="connsiteY2" fmla="*/ 56213 h 112426"/>
              <a:gd name="connsiteX3" fmla="*/ 56213 w 112426"/>
              <a:gd name="connsiteY3" fmla="*/ 0 h 112426"/>
              <a:gd name="connsiteX4" fmla="*/ 112426 w 112426"/>
              <a:gd name="connsiteY4" fmla="*/ 56213 h 11242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12426" h="112426">
                <a:moveTo>
                  <a:pt x="112426" y="56213"/>
                </a:moveTo>
                <a:cubicBezTo>
                  <a:pt x="112426" y="87259"/>
                  <a:pt x="87259" y="112426"/>
                  <a:pt x="56213" y="112426"/>
                </a:cubicBezTo>
                <a:cubicBezTo>
                  <a:pt x="25167" y="112426"/>
                  <a:pt x="0" y="87259"/>
                  <a:pt x="0" y="56213"/>
                </a:cubicBezTo>
                <a:cubicBezTo>
                  <a:pt x="0" y="25167"/>
                  <a:pt x="25167" y="0"/>
                  <a:pt x="56213" y="0"/>
                </a:cubicBezTo>
                <a:cubicBezTo>
                  <a:pt x="87259" y="0"/>
                  <a:pt x="112426" y="25167"/>
                  <a:pt x="112426" y="56213"/>
                </a:cubicBezTo>
                <a:close/>
              </a:path>
            </a:pathLst>
          </a:custGeom>
          <a:solidFill>
            <a:schemeClr val="accent2"/>
          </a:solidFill>
          <a:ln w="516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C49DA8F6-BCC1-4447-B54C-57856834B94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11586162" y="3610394"/>
            <a:ext cx="0" cy="3238728"/>
          </a:xfrm>
          <a:prstGeom prst="line">
            <a:avLst/>
          </a:prstGeom>
          <a:ln w="25400" cap="sq">
            <a:gradFill flip="none" rotWithShape="1">
              <a:gsLst>
                <a:gs pos="0">
                  <a:schemeClr val="accent2"/>
                </a:gs>
                <a:gs pos="100000">
                  <a:schemeClr val="accent4"/>
                </a:gs>
              </a:gsLst>
              <a:lin ang="5400000" scaled="1"/>
              <a:tileRect/>
            </a:gradFill>
            <a:beve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58999051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327D73B4-9F5C-4A64-A179-51B9500CB8B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C1F06963-6374-4B48-844F-071A9BAAAE0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99528" y="554152"/>
            <a:ext cx="5742189" cy="5742189"/>
          </a:xfrm>
          <a:prstGeom prst="ellipse">
            <a:avLst/>
          </a:prstGeom>
          <a:gradFill flip="none" rotWithShape="1">
            <a:gsLst>
              <a:gs pos="100000">
                <a:schemeClr val="accent4"/>
              </a:gs>
              <a:gs pos="0">
                <a:schemeClr val="accent2"/>
              </a:gs>
            </a:gsLst>
            <a:lin ang="27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3D65E077-41B9-DFFC-0CE3-70F85C970D9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45072" y="1289765"/>
            <a:ext cx="3651101" cy="4270963"/>
          </a:xfrm>
        </p:spPr>
        <p:txBody>
          <a:bodyPr anchor="ctr">
            <a:normAutofit/>
          </a:bodyPr>
          <a:lstStyle/>
          <a:p>
            <a:pPr algn="ctr"/>
            <a:r>
              <a:rPr lang="es-MX" b="1" dirty="0">
                <a:solidFill>
                  <a:schemeClr val="bg1"/>
                </a:solidFill>
              </a:rPr>
              <a:t>3.-Objetivo del sistema</a:t>
            </a:r>
            <a:br>
              <a:rPr lang="es-MX" b="1" dirty="0">
                <a:solidFill>
                  <a:schemeClr val="bg1"/>
                </a:solidFill>
              </a:rPr>
            </a:br>
            <a:endParaRPr lang="es-MX" dirty="0">
              <a:solidFill>
                <a:schemeClr val="bg1"/>
              </a:solidFill>
            </a:endParaRPr>
          </a:p>
        </p:txBody>
      </p:sp>
      <p:sp>
        <p:nvSpPr>
          <p:cNvPr id="12" name="Graphic 11">
            <a:extLst>
              <a:ext uri="{FF2B5EF4-FFF2-40B4-BE49-F238E27FC236}">
                <a16:creationId xmlns:a16="http://schemas.microsoft.com/office/drawing/2014/main" id="{6CB927A4-E432-4310-9CD5-E89FF506317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123493" y="374394"/>
            <a:ext cx="171515" cy="171515"/>
          </a:xfrm>
          <a:custGeom>
            <a:avLst/>
            <a:gdLst>
              <a:gd name="connsiteX0" fmla="*/ 159874 w 171515"/>
              <a:gd name="connsiteY0" fmla="*/ 74116 h 171515"/>
              <a:gd name="connsiteX1" fmla="*/ 97399 w 171515"/>
              <a:gd name="connsiteY1" fmla="*/ 74116 h 171515"/>
              <a:gd name="connsiteX2" fmla="*/ 97399 w 171515"/>
              <a:gd name="connsiteY2" fmla="*/ 11641 h 171515"/>
              <a:gd name="connsiteX3" fmla="*/ 85758 w 171515"/>
              <a:gd name="connsiteY3" fmla="*/ 0 h 171515"/>
              <a:gd name="connsiteX4" fmla="*/ 74116 w 171515"/>
              <a:gd name="connsiteY4" fmla="*/ 11641 h 171515"/>
              <a:gd name="connsiteX5" fmla="*/ 74116 w 171515"/>
              <a:gd name="connsiteY5" fmla="*/ 74116 h 171515"/>
              <a:gd name="connsiteX6" fmla="*/ 11641 w 171515"/>
              <a:gd name="connsiteY6" fmla="*/ 74116 h 171515"/>
              <a:gd name="connsiteX7" fmla="*/ 0 w 171515"/>
              <a:gd name="connsiteY7" fmla="*/ 85758 h 171515"/>
              <a:gd name="connsiteX8" fmla="*/ 11641 w 171515"/>
              <a:gd name="connsiteY8" fmla="*/ 97399 h 171515"/>
              <a:gd name="connsiteX9" fmla="*/ 74116 w 171515"/>
              <a:gd name="connsiteY9" fmla="*/ 97399 h 171515"/>
              <a:gd name="connsiteX10" fmla="*/ 74116 w 171515"/>
              <a:gd name="connsiteY10" fmla="*/ 159874 h 171515"/>
              <a:gd name="connsiteX11" fmla="*/ 85758 w 171515"/>
              <a:gd name="connsiteY11" fmla="*/ 171515 h 171515"/>
              <a:gd name="connsiteX12" fmla="*/ 97399 w 171515"/>
              <a:gd name="connsiteY12" fmla="*/ 159874 h 171515"/>
              <a:gd name="connsiteX13" fmla="*/ 97399 w 171515"/>
              <a:gd name="connsiteY13" fmla="*/ 97399 h 171515"/>
              <a:gd name="connsiteX14" fmla="*/ 159874 w 171515"/>
              <a:gd name="connsiteY14" fmla="*/ 97399 h 171515"/>
              <a:gd name="connsiteX15" fmla="*/ 171515 w 171515"/>
              <a:gd name="connsiteY15" fmla="*/ 85758 h 171515"/>
              <a:gd name="connsiteX16" fmla="*/ 159874 w 171515"/>
              <a:gd name="connsiteY16" fmla="*/ 74116 h 17151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171515" h="171515">
                <a:moveTo>
                  <a:pt x="159874" y="74116"/>
                </a:moveTo>
                <a:lnTo>
                  <a:pt x="97399" y="74116"/>
                </a:lnTo>
                <a:lnTo>
                  <a:pt x="97399" y="11641"/>
                </a:lnTo>
                <a:cubicBezTo>
                  <a:pt x="97399" y="5212"/>
                  <a:pt x="92187" y="0"/>
                  <a:pt x="85758" y="0"/>
                </a:cubicBezTo>
                <a:cubicBezTo>
                  <a:pt x="79328" y="0"/>
                  <a:pt x="74116" y="5212"/>
                  <a:pt x="74116" y="11641"/>
                </a:cubicBezTo>
                <a:lnTo>
                  <a:pt x="74116" y="74116"/>
                </a:lnTo>
                <a:lnTo>
                  <a:pt x="11641" y="74116"/>
                </a:lnTo>
                <a:cubicBezTo>
                  <a:pt x="5212" y="74116"/>
                  <a:pt x="0" y="79328"/>
                  <a:pt x="0" y="85758"/>
                </a:cubicBezTo>
                <a:cubicBezTo>
                  <a:pt x="0" y="92187"/>
                  <a:pt x="5212" y="97399"/>
                  <a:pt x="11641" y="97399"/>
                </a:cubicBezTo>
                <a:lnTo>
                  <a:pt x="74116" y="97399"/>
                </a:lnTo>
                <a:lnTo>
                  <a:pt x="74116" y="159874"/>
                </a:lnTo>
                <a:cubicBezTo>
                  <a:pt x="74116" y="166303"/>
                  <a:pt x="79328" y="171515"/>
                  <a:pt x="85758" y="171515"/>
                </a:cubicBezTo>
                <a:cubicBezTo>
                  <a:pt x="92187" y="171515"/>
                  <a:pt x="97399" y="166303"/>
                  <a:pt x="97399" y="159874"/>
                </a:cubicBezTo>
                <a:lnTo>
                  <a:pt x="97399" y="97399"/>
                </a:lnTo>
                <a:lnTo>
                  <a:pt x="159874" y="97399"/>
                </a:lnTo>
                <a:cubicBezTo>
                  <a:pt x="166303" y="97399"/>
                  <a:pt x="171515" y="92187"/>
                  <a:pt x="171515" y="85758"/>
                </a:cubicBezTo>
                <a:cubicBezTo>
                  <a:pt x="171515" y="79328"/>
                  <a:pt x="166303" y="74116"/>
                  <a:pt x="159874" y="74116"/>
                </a:cubicBezTo>
                <a:close/>
              </a:path>
            </a:pathLst>
          </a:custGeom>
          <a:solidFill>
            <a:schemeClr val="accent2"/>
          </a:solidFill>
          <a:ln w="776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4" name="Graphic 12">
            <a:extLst>
              <a:ext uri="{FF2B5EF4-FFF2-40B4-BE49-F238E27FC236}">
                <a16:creationId xmlns:a16="http://schemas.microsoft.com/office/drawing/2014/main" id="{1453BF6C-B012-48B7-B4E8-6D7AC7C27D0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50109" y="1084507"/>
            <a:ext cx="157545" cy="157545"/>
          </a:xfrm>
          <a:custGeom>
            <a:avLst/>
            <a:gdLst>
              <a:gd name="connsiteX0" fmla="*/ 78773 w 157545"/>
              <a:gd name="connsiteY0" fmla="*/ 23283 h 157545"/>
              <a:gd name="connsiteX1" fmla="*/ 134262 w 157545"/>
              <a:gd name="connsiteY1" fmla="*/ 78773 h 157545"/>
              <a:gd name="connsiteX2" fmla="*/ 78773 w 157545"/>
              <a:gd name="connsiteY2" fmla="*/ 134262 h 157545"/>
              <a:gd name="connsiteX3" fmla="*/ 23283 w 157545"/>
              <a:gd name="connsiteY3" fmla="*/ 78773 h 157545"/>
              <a:gd name="connsiteX4" fmla="*/ 78773 w 157545"/>
              <a:gd name="connsiteY4" fmla="*/ 23283 h 157545"/>
              <a:gd name="connsiteX5" fmla="*/ 78773 w 157545"/>
              <a:gd name="connsiteY5" fmla="*/ 0 h 157545"/>
              <a:gd name="connsiteX6" fmla="*/ 0 w 157545"/>
              <a:gd name="connsiteY6" fmla="*/ 78773 h 157545"/>
              <a:gd name="connsiteX7" fmla="*/ 78773 w 157545"/>
              <a:gd name="connsiteY7" fmla="*/ 157545 h 157545"/>
              <a:gd name="connsiteX8" fmla="*/ 157545 w 157545"/>
              <a:gd name="connsiteY8" fmla="*/ 78773 h 157545"/>
              <a:gd name="connsiteX9" fmla="*/ 78773 w 157545"/>
              <a:gd name="connsiteY9" fmla="*/ 0 h 15754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157545" h="157545">
                <a:moveTo>
                  <a:pt x="78773" y="23283"/>
                </a:moveTo>
                <a:cubicBezTo>
                  <a:pt x="109419" y="23283"/>
                  <a:pt x="134262" y="48126"/>
                  <a:pt x="134262" y="78773"/>
                </a:cubicBezTo>
                <a:cubicBezTo>
                  <a:pt x="134262" y="109419"/>
                  <a:pt x="109419" y="134262"/>
                  <a:pt x="78773" y="134262"/>
                </a:cubicBezTo>
                <a:cubicBezTo>
                  <a:pt x="48126" y="134262"/>
                  <a:pt x="23283" y="109419"/>
                  <a:pt x="23283" y="78773"/>
                </a:cubicBezTo>
                <a:cubicBezTo>
                  <a:pt x="23312" y="48139"/>
                  <a:pt x="48139" y="23312"/>
                  <a:pt x="78773" y="23283"/>
                </a:cubicBezTo>
                <a:moveTo>
                  <a:pt x="78773" y="0"/>
                </a:moveTo>
                <a:cubicBezTo>
                  <a:pt x="35268" y="0"/>
                  <a:pt x="0" y="35268"/>
                  <a:pt x="0" y="78773"/>
                </a:cubicBezTo>
                <a:cubicBezTo>
                  <a:pt x="0" y="122277"/>
                  <a:pt x="35268" y="157545"/>
                  <a:pt x="78773" y="157545"/>
                </a:cubicBezTo>
                <a:cubicBezTo>
                  <a:pt x="122277" y="157545"/>
                  <a:pt x="157545" y="122277"/>
                  <a:pt x="157545" y="78773"/>
                </a:cubicBezTo>
                <a:cubicBezTo>
                  <a:pt x="157545" y="35268"/>
                  <a:pt x="122277" y="0"/>
                  <a:pt x="78773" y="0"/>
                </a:cubicBezTo>
                <a:close/>
              </a:path>
            </a:pathLst>
          </a:custGeom>
          <a:solidFill>
            <a:schemeClr val="accent2"/>
          </a:solidFill>
          <a:ln w="751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0394571B-7134-7A25-B74A-FEEAEA49D70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397039" y="381935"/>
            <a:ext cx="4685916" cy="5974415"/>
          </a:xfrm>
        </p:spPr>
        <p:txBody>
          <a:bodyPr anchor="ctr">
            <a:normAutofit/>
          </a:bodyPr>
          <a:lstStyle/>
          <a:p>
            <a:pPr marL="0" indent="0">
              <a:buNone/>
            </a:pPr>
            <a:r>
              <a:rPr lang="es-MX" sz="1800"/>
              <a:t>Ejemplo:</a:t>
            </a:r>
          </a:p>
          <a:p>
            <a:r>
              <a:rPr lang="es-MX" sz="1800"/>
              <a:t>Desarrollar una aplicación que permita registrar, editar y eliminar tareas, aplicando prácticas DevOps para automatizar su despliegue.</a:t>
            </a:r>
          </a:p>
          <a:p>
            <a:endParaRPr lang="es-MX" sz="1800"/>
          </a:p>
        </p:txBody>
      </p:sp>
      <p:sp>
        <p:nvSpPr>
          <p:cNvPr id="16" name="Graphic 10">
            <a:extLst>
              <a:ext uri="{FF2B5EF4-FFF2-40B4-BE49-F238E27FC236}">
                <a16:creationId xmlns:a16="http://schemas.microsoft.com/office/drawing/2014/main" id="{E3020543-B24B-4EC4-8FFC-8DD88EEA91A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436547" y="5751820"/>
            <a:ext cx="112426" cy="112426"/>
          </a:xfrm>
          <a:custGeom>
            <a:avLst/>
            <a:gdLst>
              <a:gd name="connsiteX0" fmla="*/ 112426 w 112426"/>
              <a:gd name="connsiteY0" fmla="*/ 56213 h 112426"/>
              <a:gd name="connsiteX1" fmla="*/ 56213 w 112426"/>
              <a:gd name="connsiteY1" fmla="*/ 112426 h 112426"/>
              <a:gd name="connsiteX2" fmla="*/ 0 w 112426"/>
              <a:gd name="connsiteY2" fmla="*/ 56213 h 112426"/>
              <a:gd name="connsiteX3" fmla="*/ 56213 w 112426"/>
              <a:gd name="connsiteY3" fmla="*/ 0 h 112426"/>
              <a:gd name="connsiteX4" fmla="*/ 112426 w 112426"/>
              <a:gd name="connsiteY4" fmla="*/ 56213 h 11242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12426" h="112426">
                <a:moveTo>
                  <a:pt x="112426" y="56213"/>
                </a:moveTo>
                <a:cubicBezTo>
                  <a:pt x="112426" y="87259"/>
                  <a:pt x="87259" y="112426"/>
                  <a:pt x="56213" y="112426"/>
                </a:cubicBezTo>
                <a:cubicBezTo>
                  <a:pt x="25167" y="112426"/>
                  <a:pt x="0" y="87259"/>
                  <a:pt x="0" y="56213"/>
                </a:cubicBezTo>
                <a:cubicBezTo>
                  <a:pt x="0" y="25167"/>
                  <a:pt x="25167" y="0"/>
                  <a:pt x="56213" y="0"/>
                </a:cubicBezTo>
                <a:cubicBezTo>
                  <a:pt x="87259" y="0"/>
                  <a:pt x="112426" y="25167"/>
                  <a:pt x="112426" y="56213"/>
                </a:cubicBezTo>
                <a:close/>
              </a:path>
            </a:pathLst>
          </a:custGeom>
          <a:solidFill>
            <a:schemeClr val="accent2"/>
          </a:solidFill>
          <a:ln w="516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C49DA8F6-BCC1-4447-B54C-57856834B94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11586162" y="3610394"/>
            <a:ext cx="0" cy="3238728"/>
          </a:xfrm>
          <a:prstGeom prst="line">
            <a:avLst/>
          </a:prstGeom>
          <a:ln w="25400" cap="sq">
            <a:gradFill flip="none" rotWithShape="1">
              <a:gsLst>
                <a:gs pos="0">
                  <a:schemeClr val="accent2"/>
                </a:gs>
                <a:gs pos="100000">
                  <a:schemeClr val="accent4"/>
                </a:gs>
              </a:gsLst>
              <a:lin ang="5400000" scaled="1"/>
              <a:tileRect/>
            </a:gradFill>
            <a:beve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74094534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327D73B4-9F5C-4A64-A179-51B9500CB8B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C1F06963-6374-4B48-844F-071A9BAAAE0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99528" y="554152"/>
            <a:ext cx="5742189" cy="5742189"/>
          </a:xfrm>
          <a:prstGeom prst="ellipse">
            <a:avLst/>
          </a:prstGeom>
          <a:gradFill flip="none" rotWithShape="1">
            <a:gsLst>
              <a:gs pos="100000">
                <a:schemeClr val="accent4"/>
              </a:gs>
              <a:gs pos="0">
                <a:schemeClr val="accent2"/>
              </a:gs>
            </a:gsLst>
            <a:lin ang="27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0228FECE-EFF9-8629-2BAC-C1C3123DC5F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45072" y="1289765"/>
            <a:ext cx="3651101" cy="4270963"/>
          </a:xfrm>
        </p:spPr>
        <p:txBody>
          <a:bodyPr anchor="ctr">
            <a:normAutofit/>
          </a:bodyPr>
          <a:lstStyle/>
          <a:p>
            <a:pPr algn="ctr"/>
            <a:r>
              <a:rPr lang="es-MX" sz="2400" b="1" dirty="0">
                <a:solidFill>
                  <a:schemeClr val="bg1"/>
                </a:solidFill>
              </a:rPr>
              <a:t>4.-Alcance del sistema</a:t>
            </a:r>
            <a:endParaRPr lang="es-MX" sz="2400" dirty="0">
              <a:solidFill>
                <a:schemeClr val="bg1"/>
              </a:solidFill>
            </a:endParaRPr>
          </a:p>
        </p:txBody>
      </p:sp>
      <p:sp>
        <p:nvSpPr>
          <p:cNvPr id="12" name="Graphic 11">
            <a:extLst>
              <a:ext uri="{FF2B5EF4-FFF2-40B4-BE49-F238E27FC236}">
                <a16:creationId xmlns:a16="http://schemas.microsoft.com/office/drawing/2014/main" id="{6CB927A4-E432-4310-9CD5-E89FF506317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123493" y="374394"/>
            <a:ext cx="171515" cy="171515"/>
          </a:xfrm>
          <a:custGeom>
            <a:avLst/>
            <a:gdLst>
              <a:gd name="connsiteX0" fmla="*/ 159874 w 171515"/>
              <a:gd name="connsiteY0" fmla="*/ 74116 h 171515"/>
              <a:gd name="connsiteX1" fmla="*/ 97399 w 171515"/>
              <a:gd name="connsiteY1" fmla="*/ 74116 h 171515"/>
              <a:gd name="connsiteX2" fmla="*/ 97399 w 171515"/>
              <a:gd name="connsiteY2" fmla="*/ 11641 h 171515"/>
              <a:gd name="connsiteX3" fmla="*/ 85758 w 171515"/>
              <a:gd name="connsiteY3" fmla="*/ 0 h 171515"/>
              <a:gd name="connsiteX4" fmla="*/ 74116 w 171515"/>
              <a:gd name="connsiteY4" fmla="*/ 11641 h 171515"/>
              <a:gd name="connsiteX5" fmla="*/ 74116 w 171515"/>
              <a:gd name="connsiteY5" fmla="*/ 74116 h 171515"/>
              <a:gd name="connsiteX6" fmla="*/ 11641 w 171515"/>
              <a:gd name="connsiteY6" fmla="*/ 74116 h 171515"/>
              <a:gd name="connsiteX7" fmla="*/ 0 w 171515"/>
              <a:gd name="connsiteY7" fmla="*/ 85758 h 171515"/>
              <a:gd name="connsiteX8" fmla="*/ 11641 w 171515"/>
              <a:gd name="connsiteY8" fmla="*/ 97399 h 171515"/>
              <a:gd name="connsiteX9" fmla="*/ 74116 w 171515"/>
              <a:gd name="connsiteY9" fmla="*/ 97399 h 171515"/>
              <a:gd name="connsiteX10" fmla="*/ 74116 w 171515"/>
              <a:gd name="connsiteY10" fmla="*/ 159874 h 171515"/>
              <a:gd name="connsiteX11" fmla="*/ 85758 w 171515"/>
              <a:gd name="connsiteY11" fmla="*/ 171515 h 171515"/>
              <a:gd name="connsiteX12" fmla="*/ 97399 w 171515"/>
              <a:gd name="connsiteY12" fmla="*/ 159874 h 171515"/>
              <a:gd name="connsiteX13" fmla="*/ 97399 w 171515"/>
              <a:gd name="connsiteY13" fmla="*/ 97399 h 171515"/>
              <a:gd name="connsiteX14" fmla="*/ 159874 w 171515"/>
              <a:gd name="connsiteY14" fmla="*/ 97399 h 171515"/>
              <a:gd name="connsiteX15" fmla="*/ 171515 w 171515"/>
              <a:gd name="connsiteY15" fmla="*/ 85758 h 171515"/>
              <a:gd name="connsiteX16" fmla="*/ 159874 w 171515"/>
              <a:gd name="connsiteY16" fmla="*/ 74116 h 17151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171515" h="171515">
                <a:moveTo>
                  <a:pt x="159874" y="74116"/>
                </a:moveTo>
                <a:lnTo>
                  <a:pt x="97399" y="74116"/>
                </a:lnTo>
                <a:lnTo>
                  <a:pt x="97399" y="11641"/>
                </a:lnTo>
                <a:cubicBezTo>
                  <a:pt x="97399" y="5212"/>
                  <a:pt x="92187" y="0"/>
                  <a:pt x="85758" y="0"/>
                </a:cubicBezTo>
                <a:cubicBezTo>
                  <a:pt x="79328" y="0"/>
                  <a:pt x="74116" y="5212"/>
                  <a:pt x="74116" y="11641"/>
                </a:cubicBezTo>
                <a:lnTo>
                  <a:pt x="74116" y="74116"/>
                </a:lnTo>
                <a:lnTo>
                  <a:pt x="11641" y="74116"/>
                </a:lnTo>
                <a:cubicBezTo>
                  <a:pt x="5212" y="74116"/>
                  <a:pt x="0" y="79328"/>
                  <a:pt x="0" y="85758"/>
                </a:cubicBezTo>
                <a:cubicBezTo>
                  <a:pt x="0" y="92187"/>
                  <a:pt x="5212" y="97399"/>
                  <a:pt x="11641" y="97399"/>
                </a:cubicBezTo>
                <a:lnTo>
                  <a:pt x="74116" y="97399"/>
                </a:lnTo>
                <a:lnTo>
                  <a:pt x="74116" y="159874"/>
                </a:lnTo>
                <a:cubicBezTo>
                  <a:pt x="74116" y="166303"/>
                  <a:pt x="79328" y="171515"/>
                  <a:pt x="85758" y="171515"/>
                </a:cubicBezTo>
                <a:cubicBezTo>
                  <a:pt x="92187" y="171515"/>
                  <a:pt x="97399" y="166303"/>
                  <a:pt x="97399" y="159874"/>
                </a:cubicBezTo>
                <a:lnTo>
                  <a:pt x="97399" y="97399"/>
                </a:lnTo>
                <a:lnTo>
                  <a:pt x="159874" y="97399"/>
                </a:lnTo>
                <a:cubicBezTo>
                  <a:pt x="166303" y="97399"/>
                  <a:pt x="171515" y="92187"/>
                  <a:pt x="171515" y="85758"/>
                </a:cubicBezTo>
                <a:cubicBezTo>
                  <a:pt x="171515" y="79328"/>
                  <a:pt x="166303" y="74116"/>
                  <a:pt x="159874" y="74116"/>
                </a:cubicBezTo>
                <a:close/>
              </a:path>
            </a:pathLst>
          </a:custGeom>
          <a:solidFill>
            <a:schemeClr val="accent2"/>
          </a:solidFill>
          <a:ln w="776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4" name="Graphic 12">
            <a:extLst>
              <a:ext uri="{FF2B5EF4-FFF2-40B4-BE49-F238E27FC236}">
                <a16:creationId xmlns:a16="http://schemas.microsoft.com/office/drawing/2014/main" id="{1453BF6C-B012-48B7-B4E8-6D7AC7C27D0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50109" y="1084507"/>
            <a:ext cx="157545" cy="157545"/>
          </a:xfrm>
          <a:custGeom>
            <a:avLst/>
            <a:gdLst>
              <a:gd name="connsiteX0" fmla="*/ 78773 w 157545"/>
              <a:gd name="connsiteY0" fmla="*/ 23283 h 157545"/>
              <a:gd name="connsiteX1" fmla="*/ 134262 w 157545"/>
              <a:gd name="connsiteY1" fmla="*/ 78773 h 157545"/>
              <a:gd name="connsiteX2" fmla="*/ 78773 w 157545"/>
              <a:gd name="connsiteY2" fmla="*/ 134262 h 157545"/>
              <a:gd name="connsiteX3" fmla="*/ 23283 w 157545"/>
              <a:gd name="connsiteY3" fmla="*/ 78773 h 157545"/>
              <a:gd name="connsiteX4" fmla="*/ 78773 w 157545"/>
              <a:gd name="connsiteY4" fmla="*/ 23283 h 157545"/>
              <a:gd name="connsiteX5" fmla="*/ 78773 w 157545"/>
              <a:gd name="connsiteY5" fmla="*/ 0 h 157545"/>
              <a:gd name="connsiteX6" fmla="*/ 0 w 157545"/>
              <a:gd name="connsiteY6" fmla="*/ 78773 h 157545"/>
              <a:gd name="connsiteX7" fmla="*/ 78773 w 157545"/>
              <a:gd name="connsiteY7" fmla="*/ 157545 h 157545"/>
              <a:gd name="connsiteX8" fmla="*/ 157545 w 157545"/>
              <a:gd name="connsiteY8" fmla="*/ 78773 h 157545"/>
              <a:gd name="connsiteX9" fmla="*/ 78773 w 157545"/>
              <a:gd name="connsiteY9" fmla="*/ 0 h 15754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157545" h="157545">
                <a:moveTo>
                  <a:pt x="78773" y="23283"/>
                </a:moveTo>
                <a:cubicBezTo>
                  <a:pt x="109419" y="23283"/>
                  <a:pt x="134262" y="48126"/>
                  <a:pt x="134262" y="78773"/>
                </a:cubicBezTo>
                <a:cubicBezTo>
                  <a:pt x="134262" y="109419"/>
                  <a:pt x="109419" y="134262"/>
                  <a:pt x="78773" y="134262"/>
                </a:cubicBezTo>
                <a:cubicBezTo>
                  <a:pt x="48126" y="134262"/>
                  <a:pt x="23283" y="109419"/>
                  <a:pt x="23283" y="78773"/>
                </a:cubicBezTo>
                <a:cubicBezTo>
                  <a:pt x="23312" y="48139"/>
                  <a:pt x="48139" y="23312"/>
                  <a:pt x="78773" y="23283"/>
                </a:cubicBezTo>
                <a:moveTo>
                  <a:pt x="78773" y="0"/>
                </a:moveTo>
                <a:cubicBezTo>
                  <a:pt x="35268" y="0"/>
                  <a:pt x="0" y="35268"/>
                  <a:pt x="0" y="78773"/>
                </a:cubicBezTo>
                <a:cubicBezTo>
                  <a:pt x="0" y="122277"/>
                  <a:pt x="35268" y="157545"/>
                  <a:pt x="78773" y="157545"/>
                </a:cubicBezTo>
                <a:cubicBezTo>
                  <a:pt x="122277" y="157545"/>
                  <a:pt x="157545" y="122277"/>
                  <a:pt x="157545" y="78773"/>
                </a:cubicBezTo>
                <a:cubicBezTo>
                  <a:pt x="157545" y="35268"/>
                  <a:pt x="122277" y="0"/>
                  <a:pt x="78773" y="0"/>
                </a:cubicBezTo>
                <a:close/>
              </a:path>
            </a:pathLst>
          </a:custGeom>
          <a:solidFill>
            <a:schemeClr val="accent2"/>
          </a:solidFill>
          <a:ln w="751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8450F07C-2C9C-CDCD-FE96-3991BF3FD02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397039" y="381935"/>
            <a:ext cx="4685916" cy="5974415"/>
          </a:xfrm>
        </p:spPr>
        <p:txBody>
          <a:bodyPr anchor="ctr">
            <a:normAutofit/>
          </a:bodyPr>
          <a:lstStyle/>
          <a:p>
            <a:pPr marL="0" indent="0">
              <a:buNone/>
            </a:pPr>
            <a:r>
              <a:rPr lang="es-MX" sz="1800"/>
              <a:t>Debe incluir mínimo:</a:t>
            </a:r>
          </a:p>
          <a:p>
            <a:r>
              <a:rPr lang="es-MX" sz="1800"/>
              <a:t>Crear registros </a:t>
            </a:r>
          </a:p>
          <a:p>
            <a:r>
              <a:rPr lang="es-MX" sz="1800"/>
              <a:t>Leer registros </a:t>
            </a:r>
          </a:p>
          <a:p>
            <a:r>
              <a:rPr lang="es-MX" sz="1800"/>
              <a:t>Actualizar registros </a:t>
            </a:r>
          </a:p>
          <a:p>
            <a:r>
              <a:rPr lang="es-MX" sz="1800"/>
              <a:t>Eliminar registros</a:t>
            </a:r>
          </a:p>
          <a:p>
            <a:endParaRPr lang="es-MX" sz="1800"/>
          </a:p>
        </p:txBody>
      </p:sp>
      <p:sp>
        <p:nvSpPr>
          <p:cNvPr id="16" name="Graphic 10">
            <a:extLst>
              <a:ext uri="{FF2B5EF4-FFF2-40B4-BE49-F238E27FC236}">
                <a16:creationId xmlns:a16="http://schemas.microsoft.com/office/drawing/2014/main" id="{E3020543-B24B-4EC4-8FFC-8DD88EEA91A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436547" y="5751820"/>
            <a:ext cx="112426" cy="112426"/>
          </a:xfrm>
          <a:custGeom>
            <a:avLst/>
            <a:gdLst>
              <a:gd name="connsiteX0" fmla="*/ 112426 w 112426"/>
              <a:gd name="connsiteY0" fmla="*/ 56213 h 112426"/>
              <a:gd name="connsiteX1" fmla="*/ 56213 w 112426"/>
              <a:gd name="connsiteY1" fmla="*/ 112426 h 112426"/>
              <a:gd name="connsiteX2" fmla="*/ 0 w 112426"/>
              <a:gd name="connsiteY2" fmla="*/ 56213 h 112426"/>
              <a:gd name="connsiteX3" fmla="*/ 56213 w 112426"/>
              <a:gd name="connsiteY3" fmla="*/ 0 h 112426"/>
              <a:gd name="connsiteX4" fmla="*/ 112426 w 112426"/>
              <a:gd name="connsiteY4" fmla="*/ 56213 h 11242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12426" h="112426">
                <a:moveTo>
                  <a:pt x="112426" y="56213"/>
                </a:moveTo>
                <a:cubicBezTo>
                  <a:pt x="112426" y="87259"/>
                  <a:pt x="87259" y="112426"/>
                  <a:pt x="56213" y="112426"/>
                </a:cubicBezTo>
                <a:cubicBezTo>
                  <a:pt x="25167" y="112426"/>
                  <a:pt x="0" y="87259"/>
                  <a:pt x="0" y="56213"/>
                </a:cubicBezTo>
                <a:cubicBezTo>
                  <a:pt x="0" y="25167"/>
                  <a:pt x="25167" y="0"/>
                  <a:pt x="56213" y="0"/>
                </a:cubicBezTo>
                <a:cubicBezTo>
                  <a:pt x="87259" y="0"/>
                  <a:pt x="112426" y="25167"/>
                  <a:pt x="112426" y="56213"/>
                </a:cubicBezTo>
                <a:close/>
              </a:path>
            </a:pathLst>
          </a:custGeom>
          <a:solidFill>
            <a:schemeClr val="accent2"/>
          </a:solidFill>
          <a:ln w="516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C49DA8F6-BCC1-4447-B54C-57856834B94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11586162" y="3610394"/>
            <a:ext cx="0" cy="3238728"/>
          </a:xfrm>
          <a:prstGeom prst="line">
            <a:avLst/>
          </a:prstGeom>
          <a:ln w="25400" cap="sq">
            <a:gradFill flip="none" rotWithShape="1">
              <a:gsLst>
                <a:gs pos="0">
                  <a:schemeClr val="accent2"/>
                </a:gs>
                <a:gs pos="100000">
                  <a:schemeClr val="accent4"/>
                </a:gs>
              </a:gsLst>
              <a:lin ang="5400000" scaled="1"/>
              <a:tileRect/>
            </a:gradFill>
            <a:beve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57143403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D1B787A8-0D67-4B7E-9B48-86BD906AB6B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715890" y="1114050"/>
            <a:ext cx="0" cy="5735637"/>
          </a:xfrm>
          <a:prstGeom prst="line">
            <a:avLst/>
          </a:prstGeom>
          <a:ln w="25400" cap="sq">
            <a:gradFill flip="none" rotWithShape="1">
              <a:gsLst>
                <a:gs pos="0">
                  <a:schemeClr val="accent2"/>
                </a:gs>
                <a:gs pos="100000">
                  <a:schemeClr val="accent4"/>
                </a:gs>
              </a:gsLst>
              <a:lin ang="16200000" scaled="1"/>
              <a:tileRect/>
            </a:gradFill>
            <a:beve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Rectangle 8">
            <a:extLst>
              <a:ext uri="{FF2B5EF4-FFF2-40B4-BE49-F238E27FC236}">
                <a16:creationId xmlns:a16="http://schemas.microsoft.com/office/drawing/2014/main" id="{9A3F5928-D955-456A-97B5-AA390B8CE9D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gradFill flip="none" rotWithShape="1">
            <a:gsLst>
              <a:gs pos="100000">
                <a:schemeClr val="accent4"/>
              </a:gs>
              <a:gs pos="0">
                <a:schemeClr val="accent2"/>
              </a:gs>
            </a:gsLst>
            <a:lin ang="189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B6D11440-24CE-A8CE-9022-D3E4510017A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56275" y="2271449"/>
            <a:ext cx="9679449" cy="2847058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6700" b="1" i="0" kern="1200" cap="all" baseline="0">
                <a:solidFill>
                  <a:schemeClr val="bg1"/>
                </a:solidFill>
                <a:latin typeface="+mj-lt"/>
                <a:ea typeface="+mj-ea"/>
                <a:cs typeface="+mj-cs"/>
              </a:rPr>
              <a:t>Fase 2 — Diseño inicial del sistema</a:t>
            </a:r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56020367-4FD5-4596-8E10-C5F095CD8DB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878" y="806470"/>
            <a:ext cx="8453437" cy="0"/>
          </a:xfrm>
          <a:prstGeom prst="line">
            <a:avLst/>
          </a:prstGeom>
          <a:ln w="25400" cap="sq">
            <a:solidFill>
              <a:schemeClr val="bg1"/>
            </a:solidFill>
            <a:beve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Graphic 13">
            <a:extLst>
              <a:ext uri="{FF2B5EF4-FFF2-40B4-BE49-F238E27FC236}">
                <a16:creationId xmlns:a16="http://schemas.microsoft.com/office/drawing/2014/main" id="{C5CB530E-515E-412C-9DF1-5F8FFBD6F38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44954" y="2875093"/>
            <a:ext cx="139039" cy="139039"/>
          </a:xfrm>
          <a:custGeom>
            <a:avLst/>
            <a:gdLst>
              <a:gd name="connsiteX0" fmla="*/ 129602 w 139039"/>
              <a:gd name="connsiteY0" fmla="*/ 60082 h 139039"/>
              <a:gd name="connsiteX1" fmla="*/ 78957 w 139039"/>
              <a:gd name="connsiteY1" fmla="*/ 60082 h 139039"/>
              <a:gd name="connsiteX2" fmla="*/ 78957 w 139039"/>
              <a:gd name="connsiteY2" fmla="*/ 9437 h 139039"/>
              <a:gd name="connsiteX3" fmla="*/ 69520 w 139039"/>
              <a:gd name="connsiteY3" fmla="*/ 0 h 139039"/>
              <a:gd name="connsiteX4" fmla="*/ 60082 w 139039"/>
              <a:gd name="connsiteY4" fmla="*/ 9437 h 139039"/>
              <a:gd name="connsiteX5" fmla="*/ 60082 w 139039"/>
              <a:gd name="connsiteY5" fmla="*/ 60082 h 139039"/>
              <a:gd name="connsiteX6" fmla="*/ 9437 w 139039"/>
              <a:gd name="connsiteY6" fmla="*/ 60082 h 139039"/>
              <a:gd name="connsiteX7" fmla="*/ 0 w 139039"/>
              <a:gd name="connsiteY7" fmla="*/ 69520 h 139039"/>
              <a:gd name="connsiteX8" fmla="*/ 9437 w 139039"/>
              <a:gd name="connsiteY8" fmla="*/ 78957 h 139039"/>
              <a:gd name="connsiteX9" fmla="*/ 60082 w 139039"/>
              <a:gd name="connsiteY9" fmla="*/ 78957 h 139039"/>
              <a:gd name="connsiteX10" fmla="*/ 60082 w 139039"/>
              <a:gd name="connsiteY10" fmla="*/ 129602 h 139039"/>
              <a:gd name="connsiteX11" fmla="*/ 69520 w 139039"/>
              <a:gd name="connsiteY11" fmla="*/ 139039 h 139039"/>
              <a:gd name="connsiteX12" fmla="*/ 78957 w 139039"/>
              <a:gd name="connsiteY12" fmla="*/ 129602 h 139039"/>
              <a:gd name="connsiteX13" fmla="*/ 78957 w 139039"/>
              <a:gd name="connsiteY13" fmla="*/ 78957 h 139039"/>
              <a:gd name="connsiteX14" fmla="*/ 129602 w 139039"/>
              <a:gd name="connsiteY14" fmla="*/ 78957 h 139039"/>
              <a:gd name="connsiteX15" fmla="*/ 139039 w 139039"/>
              <a:gd name="connsiteY15" fmla="*/ 69520 h 139039"/>
              <a:gd name="connsiteX16" fmla="*/ 129602 w 139039"/>
              <a:gd name="connsiteY16" fmla="*/ 60082 h 1390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139039" h="139039">
                <a:moveTo>
                  <a:pt x="129602" y="60082"/>
                </a:moveTo>
                <a:lnTo>
                  <a:pt x="78957" y="60082"/>
                </a:lnTo>
                <a:lnTo>
                  <a:pt x="78957" y="9437"/>
                </a:lnTo>
                <a:cubicBezTo>
                  <a:pt x="78957" y="4225"/>
                  <a:pt x="74731" y="0"/>
                  <a:pt x="69520" y="0"/>
                </a:cubicBezTo>
                <a:cubicBezTo>
                  <a:pt x="64308" y="0"/>
                  <a:pt x="60082" y="4225"/>
                  <a:pt x="60082" y="9437"/>
                </a:cubicBezTo>
                <a:lnTo>
                  <a:pt x="60082" y="60082"/>
                </a:lnTo>
                <a:lnTo>
                  <a:pt x="9437" y="60082"/>
                </a:lnTo>
                <a:cubicBezTo>
                  <a:pt x="4225" y="60082"/>
                  <a:pt x="0" y="64308"/>
                  <a:pt x="0" y="69520"/>
                </a:cubicBezTo>
                <a:cubicBezTo>
                  <a:pt x="0" y="74731"/>
                  <a:pt x="4225" y="78957"/>
                  <a:pt x="9437" y="78957"/>
                </a:cubicBezTo>
                <a:lnTo>
                  <a:pt x="60082" y="78957"/>
                </a:lnTo>
                <a:lnTo>
                  <a:pt x="60082" y="129602"/>
                </a:lnTo>
                <a:cubicBezTo>
                  <a:pt x="60082" y="134814"/>
                  <a:pt x="64308" y="139039"/>
                  <a:pt x="69520" y="139039"/>
                </a:cubicBezTo>
                <a:cubicBezTo>
                  <a:pt x="74731" y="139039"/>
                  <a:pt x="78957" y="134814"/>
                  <a:pt x="78957" y="129602"/>
                </a:cubicBezTo>
                <a:lnTo>
                  <a:pt x="78957" y="78957"/>
                </a:lnTo>
                <a:lnTo>
                  <a:pt x="129602" y="78957"/>
                </a:lnTo>
                <a:cubicBezTo>
                  <a:pt x="134814" y="78957"/>
                  <a:pt x="139039" y="74731"/>
                  <a:pt x="139039" y="69520"/>
                </a:cubicBezTo>
                <a:cubicBezTo>
                  <a:pt x="139039" y="64308"/>
                  <a:pt x="134814" y="60082"/>
                  <a:pt x="129602" y="60082"/>
                </a:cubicBezTo>
                <a:close/>
              </a:path>
            </a:pathLst>
          </a:custGeom>
          <a:solidFill>
            <a:schemeClr val="bg1"/>
          </a:solidFill>
          <a:ln w="603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5" name="Graphic 12">
            <a:extLst>
              <a:ext uri="{FF2B5EF4-FFF2-40B4-BE49-F238E27FC236}">
                <a16:creationId xmlns:a16="http://schemas.microsoft.com/office/drawing/2014/main" id="{712D4376-A578-4FF1-94FC-245E7A6A489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903734" y="3104388"/>
            <a:ext cx="91138" cy="91138"/>
          </a:xfrm>
          <a:custGeom>
            <a:avLst/>
            <a:gdLst>
              <a:gd name="connsiteX0" fmla="*/ 91138 w 91138"/>
              <a:gd name="connsiteY0" fmla="*/ 45569 h 91138"/>
              <a:gd name="connsiteX1" fmla="*/ 45569 w 91138"/>
              <a:gd name="connsiteY1" fmla="*/ 91138 h 91138"/>
              <a:gd name="connsiteX2" fmla="*/ 0 w 91138"/>
              <a:gd name="connsiteY2" fmla="*/ 45569 h 91138"/>
              <a:gd name="connsiteX3" fmla="*/ 45569 w 91138"/>
              <a:gd name="connsiteY3" fmla="*/ 0 h 91138"/>
              <a:gd name="connsiteX4" fmla="*/ 91138 w 91138"/>
              <a:gd name="connsiteY4" fmla="*/ 45569 h 9113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91138" h="91138">
                <a:moveTo>
                  <a:pt x="91138" y="45569"/>
                </a:moveTo>
                <a:cubicBezTo>
                  <a:pt x="91138" y="70736"/>
                  <a:pt x="70736" y="91138"/>
                  <a:pt x="45569" y="91138"/>
                </a:cubicBezTo>
                <a:cubicBezTo>
                  <a:pt x="20402" y="91138"/>
                  <a:pt x="0" y="70736"/>
                  <a:pt x="0" y="45569"/>
                </a:cubicBezTo>
                <a:cubicBezTo>
                  <a:pt x="0" y="20402"/>
                  <a:pt x="20402" y="0"/>
                  <a:pt x="45569" y="0"/>
                </a:cubicBezTo>
                <a:cubicBezTo>
                  <a:pt x="70736" y="0"/>
                  <a:pt x="91138" y="20402"/>
                  <a:pt x="91138" y="45569"/>
                </a:cubicBezTo>
                <a:close/>
              </a:path>
            </a:pathLst>
          </a:custGeom>
          <a:solidFill>
            <a:schemeClr val="bg1"/>
          </a:solidFill>
          <a:ln w="422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7" name="Graphic 15">
            <a:extLst>
              <a:ext uri="{FF2B5EF4-FFF2-40B4-BE49-F238E27FC236}">
                <a16:creationId xmlns:a16="http://schemas.microsoft.com/office/drawing/2014/main" id="{AEA7509D-F04F-40CB-A0B3-EEF16499CC9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29414" y="3619532"/>
            <a:ext cx="127714" cy="127714"/>
          </a:xfrm>
          <a:custGeom>
            <a:avLst/>
            <a:gdLst>
              <a:gd name="connsiteX0" fmla="*/ 63857 w 127714"/>
              <a:gd name="connsiteY0" fmla="*/ 18874 h 127714"/>
              <a:gd name="connsiteX1" fmla="*/ 108840 w 127714"/>
              <a:gd name="connsiteY1" fmla="*/ 63857 h 127714"/>
              <a:gd name="connsiteX2" fmla="*/ 63857 w 127714"/>
              <a:gd name="connsiteY2" fmla="*/ 108840 h 127714"/>
              <a:gd name="connsiteX3" fmla="*/ 18874 w 127714"/>
              <a:gd name="connsiteY3" fmla="*/ 63857 h 127714"/>
              <a:gd name="connsiteX4" fmla="*/ 63857 w 127714"/>
              <a:gd name="connsiteY4" fmla="*/ 18874 h 127714"/>
              <a:gd name="connsiteX5" fmla="*/ 63857 w 127714"/>
              <a:gd name="connsiteY5" fmla="*/ 0 h 127714"/>
              <a:gd name="connsiteX6" fmla="*/ 0 w 127714"/>
              <a:gd name="connsiteY6" fmla="*/ 63857 h 127714"/>
              <a:gd name="connsiteX7" fmla="*/ 63857 w 127714"/>
              <a:gd name="connsiteY7" fmla="*/ 127714 h 127714"/>
              <a:gd name="connsiteX8" fmla="*/ 127714 w 127714"/>
              <a:gd name="connsiteY8" fmla="*/ 63857 h 127714"/>
              <a:gd name="connsiteX9" fmla="*/ 63857 w 127714"/>
              <a:gd name="connsiteY9" fmla="*/ 0 h 12771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127714" h="127714">
                <a:moveTo>
                  <a:pt x="63857" y="18874"/>
                </a:moveTo>
                <a:cubicBezTo>
                  <a:pt x="88700" y="18874"/>
                  <a:pt x="108840" y="39014"/>
                  <a:pt x="108840" y="63857"/>
                </a:cubicBezTo>
                <a:cubicBezTo>
                  <a:pt x="108840" y="88700"/>
                  <a:pt x="88700" y="108840"/>
                  <a:pt x="63857" y="108840"/>
                </a:cubicBezTo>
                <a:cubicBezTo>
                  <a:pt x="39014" y="108840"/>
                  <a:pt x="18874" y="88700"/>
                  <a:pt x="18874" y="63857"/>
                </a:cubicBezTo>
                <a:cubicBezTo>
                  <a:pt x="18898" y="39024"/>
                  <a:pt x="39024" y="18898"/>
                  <a:pt x="63857" y="18874"/>
                </a:cubicBezTo>
                <a:moveTo>
                  <a:pt x="63857" y="0"/>
                </a:moveTo>
                <a:cubicBezTo>
                  <a:pt x="28590" y="0"/>
                  <a:pt x="0" y="28590"/>
                  <a:pt x="0" y="63857"/>
                </a:cubicBezTo>
                <a:cubicBezTo>
                  <a:pt x="0" y="99124"/>
                  <a:pt x="28590" y="127714"/>
                  <a:pt x="63857" y="127714"/>
                </a:cubicBezTo>
                <a:cubicBezTo>
                  <a:pt x="99124" y="127714"/>
                  <a:pt x="127714" y="99124"/>
                  <a:pt x="127714" y="63857"/>
                </a:cubicBezTo>
                <a:cubicBezTo>
                  <a:pt x="127714" y="28590"/>
                  <a:pt x="99124" y="0"/>
                  <a:pt x="63857" y="0"/>
                </a:cubicBezTo>
                <a:close/>
              </a:path>
            </a:pathLst>
          </a:custGeom>
          <a:solidFill>
            <a:schemeClr val="bg1"/>
          </a:solidFill>
          <a:ln w="610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2605912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C520AAC-3440-08B7-DF7D-1752E6C9AC4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 b="1" dirty="0"/>
              <a:t>Arquitectura del sistema</a:t>
            </a:r>
            <a:br>
              <a:rPr lang="es-MX" b="1" dirty="0"/>
            </a:br>
            <a:endParaRPr lang="es-MX" dirty="0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F5656FFB-51A2-63FF-C408-1DB07FF2207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s-MX" dirty="0"/>
              <a:t>Debe </a:t>
            </a:r>
          </a:p>
          <a:p>
            <a:pPr marL="0" indent="0">
              <a:buNone/>
            </a:pPr>
            <a:r>
              <a:rPr lang="es-MX" dirty="0"/>
              <a:t>Usuario</a:t>
            </a:r>
          </a:p>
          <a:p>
            <a:pPr marL="0" indent="0">
              <a:buNone/>
            </a:pPr>
            <a:r>
              <a:rPr lang="es-MX" dirty="0"/>
              <a:t>   ↓</a:t>
            </a:r>
          </a:p>
          <a:p>
            <a:pPr marL="0" indent="0">
              <a:buNone/>
            </a:pPr>
            <a:r>
              <a:rPr lang="es-MX" dirty="0"/>
              <a:t>Frontend</a:t>
            </a:r>
          </a:p>
          <a:p>
            <a:pPr marL="0" indent="0">
              <a:buNone/>
            </a:pPr>
            <a:r>
              <a:rPr lang="es-MX" dirty="0"/>
              <a:t>   ↓</a:t>
            </a:r>
          </a:p>
          <a:p>
            <a:pPr marL="0" indent="0">
              <a:buNone/>
            </a:pPr>
            <a:r>
              <a:rPr lang="es-MX" dirty="0"/>
              <a:t>Backend API</a:t>
            </a:r>
          </a:p>
          <a:p>
            <a:pPr marL="0" indent="0">
              <a:buNone/>
            </a:pPr>
            <a:r>
              <a:rPr lang="es-MX" dirty="0"/>
              <a:t>   ↓</a:t>
            </a:r>
          </a:p>
          <a:p>
            <a:pPr marL="0" indent="0">
              <a:buNone/>
            </a:pPr>
            <a:r>
              <a:rPr lang="es-MX" dirty="0"/>
              <a:t>Base de datos </a:t>
            </a:r>
          </a:p>
        </p:txBody>
      </p:sp>
      <p:graphicFrame>
        <p:nvGraphicFramePr>
          <p:cNvPr id="7" name="CuadroTexto 4">
            <a:extLst>
              <a:ext uri="{FF2B5EF4-FFF2-40B4-BE49-F238E27FC236}">
                <a16:creationId xmlns:a16="http://schemas.microsoft.com/office/drawing/2014/main" id="{85D4F9E7-6A8B-EED9-9A6D-669DB1EE948B}"/>
              </a:ext>
            </a:extLst>
          </p:cNvPr>
          <p:cNvGraphicFramePr/>
          <p:nvPr/>
        </p:nvGraphicFramePr>
        <p:xfrm>
          <a:off x="5625662" y="2149323"/>
          <a:ext cx="6096000" cy="341632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82838340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0BBEFC-65CA-19E6-649E-8C51C7848F1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 dirty="0"/>
              <a:t>Stack tecnológico sugerido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B046FCBF-3049-6907-0022-1C2A2650FD7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pPr marL="0" indent="0">
              <a:buNone/>
            </a:pPr>
            <a:r>
              <a:rPr lang="es-MX" dirty="0"/>
              <a:t>Definir:</a:t>
            </a:r>
          </a:p>
          <a:p>
            <a:pPr marL="0" indent="0">
              <a:buNone/>
            </a:pPr>
            <a:r>
              <a:rPr lang="es-MX" b="1" dirty="0"/>
              <a:t>Frontend</a:t>
            </a:r>
          </a:p>
          <a:p>
            <a:r>
              <a:rPr lang="es-MX" dirty="0"/>
              <a:t>Ejemplos:</a:t>
            </a:r>
          </a:p>
          <a:p>
            <a:r>
              <a:rPr lang="es-MX" dirty="0"/>
              <a:t>SwiftUI </a:t>
            </a:r>
          </a:p>
          <a:p>
            <a:r>
              <a:rPr lang="es-MX" dirty="0"/>
              <a:t>React </a:t>
            </a:r>
          </a:p>
          <a:p>
            <a:r>
              <a:rPr lang="es-MX" dirty="0"/>
              <a:t>Vue </a:t>
            </a:r>
          </a:p>
          <a:p>
            <a:pPr marL="0" indent="0">
              <a:buNone/>
            </a:pPr>
            <a:r>
              <a:rPr lang="es-MX" b="1" dirty="0"/>
              <a:t>Backend</a:t>
            </a:r>
          </a:p>
          <a:p>
            <a:r>
              <a:rPr lang="es-MX" dirty="0"/>
              <a:t>Ejemplos:</a:t>
            </a:r>
          </a:p>
          <a:p>
            <a:r>
              <a:rPr lang="es-MX" dirty="0"/>
              <a:t>Node.js </a:t>
            </a:r>
          </a:p>
          <a:p>
            <a:r>
              <a:rPr lang="es-MX" dirty="0"/>
              <a:t>Python </a:t>
            </a:r>
          </a:p>
          <a:p>
            <a:r>
              <a:rPr lang="es-MX" dirty="0"/>
              <a:t>.NET</a:t>
            </a:r>
          </a:p>
          <a:p>
            <a:pPr marL="0" indent="0">
              <a:buNone/>
            </a:pPr>
            <a:endParaRPr lang="es-MX" dirty="0"/>
          </a:p>
        </p:txBody>
      </p:sp>
      <p:sp>
        <p:nvSpPr>
          <p:cNvPr id="5" name="CuadroTexto 4">
            <a:extLst>
              <a:ext uri="{FF2B5EF4-FFF2-40B4-BE49-F238E27FC236}">
                <a16:creationId xmlns:a16="http://schemas.microsoft.com/office/drawing/2014/main" id="{FE296BE8-94FA-E8FA-9B86-CF350ABE80DA}"/>
              </a:ext>
            </a:extLst>
          </p:cNvPr>
          <p:cNvSpPr txBox="1"/>
          <p:nvPr/>
        </p:nvSpPr>
        <p:spPr>
          <a:xfrm>
            <a:off x="5612524" y="2690336"/>
            <a:ext cx="6096000" cy="19389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s-MX" sz="2400" b="1" dirty="0"/>
              <a:t>Base de datos</a:t>
            </a:r>
          </a:p>
          <a:p>
            <a:pPr>
              <a:buNone/>
            </a:pPr>
            <a:r>
              <a:rPr lang="es-MX" sz="2400" dirty="0"/>
              <a:t>Ejemplos: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s-MX" sz="2400" dirty="0"/>
              <a:t>PostgreSQL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s-MX" sz="2400" dirty="0"/>
              <a:t>MongoDB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s-MX" sz="2400" dirty="0"/>
              <a:t>MySQL</a:t>
            </a:r>
          </a:p>
        </p:txBody>
      </p:sp>
    </p:spTree>
    <p:extLst>
      <p:ext uri="{BB962C8B-B14F-4D97-AF65-F5344CB8AC3E}">
        <p14:creationId xmlns:p14="http://schemas.microsoft.com/office/powerpoint/2010/main" val="4790854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D1B787A8-0D67-4B7E-9B48-86BD906AB6B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715890" y="1114050"/>
            <a:ext cx="0" cy="5735637"/>
          </a:xfrm>
          <a:prstGeom prst="line">
            <a:avLst/>
          </a:prstGeom>
          <a:ln w="25400" cap="sq">
            <a:gradFill flip="none" rotWithShape="1">
              <a:gsLst>
                <a:gs pos="0">
                  <a:schemeClr val="accent2"/>
                </a:gs>
                <a:gs pos="100000">
                  <a:schemeClr val="accent4"/>
                </a:gs>
              </a:gsLst>
              <a:lin ang="16200000" scaled="1"/>
              <a:tileRect/>
            </a:gradFill>
            <a:beve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Rectangle 10">
            <a:extLst>
              <a:ext uri="{FF2B5EF4-FFF2-40B4-BE49-F238E27FC236}">
                <a16:creationId xmlns:a16="http://schemas.microsoft.com/office/drawing/2014/main" id="{158B3569-73B2-4D05-8E95-886A6EE17F1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gradFill flip="none" rotWithShape="1">
            <a:gsLst>
              <a:gs pos="100000">
                <a:schemeClr val="accent4"/>
              </a:gs>
              <a:gs pos="0">
                <a:schemeClr val="accent2"/>
              </a:gs>
            </a:gsLst>
            <a:lin ang="27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94758DA6-7CFC-A580-1B82-512FD7B0485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1598246"/>
            <a:ext cx="4412419" cy="3626217"/>
          </a:xfrm>
        </p:spPr>
        <p:txBody>
          <a:bodyPr vert="horz" lIns="91440" tIns="45720" rIns="91440" bIns="45720" rtlCol="0" anchor="t">
            <a:normAutofit/>
          </a:bodyPr>
          <a:lstStyle/>
          <a:p>
            <a:pPr algn="r"/>
            <a:r>
              <a:rPr lang="en-US" b="1" i="0" kern="1200" cap="all" baseline="0">
                <a:solidFill>
                  <a:schemeClr val="bg1"/>
                </a:solidFill>
                <a:latin typeface="+mj-lt"/>
                <a:ea typeface="+mj-ea"/>
                <a:cs typeface="+mj-cs"/>
              </a:rPr>
              <a:t>Fase 3 — Metodología DevOps (núcleo del proyecto)</a:t>
            </a:r>
          </a:p>
        </p:txBody>
      </p:sp>
      <p:sp>
        <p:nvSpPr>
          <p:cNvPr id="13" name="Graphic 17">
            <a:extLst>
              <a:ext uri="{FF2B5EF4-FFF2-40B4-BE49-F238E27FC236}">
                <a16:creationId xmlns:a16="http://schemas.microsoft.com/office/drawing/2014/main" id="{B71758F4-3F46-45DA-8AC5-4E508DA080B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1512034" y="1267063"/>
            <a:ext cx="139037" cy="139039"/>
          </a:xfrm>
          <a:custGeom>
            <a:avLst/>
            <a:gdLst>
              <a:gd name="connsiteX0" fmla="*/ 129600 w 139037"/>
              <a:gd name="connsiteY0" fmla="*/ 60082 h 139039"/>
              <a:gd name="connsiteX1" fmla="*/ 78955 w 139037"/>
              <a:gd name="connsiteY1" fmla="*/ 60082 h 139039"/>
              <a:gd name="connsiteX2" fmla="*/ 78955 w 139037"/>
              <a:gd name="connsiteY2" fmla="*/ 9437 h 139039"/>
              <a:gd name="connsiteX3" fmla="*/ 69519 w 139037"/>
              <a:gd name="connsiteY3" fmla="*/ 0 h 139039"/>
              <a:gd name="connsiteX4" fmla="*/ 60082 w 139037"/>
              <a:gd name="connsiteY4" fmla="*/ 9437 h 139039"/>
              <a:gd name="connsiteX5" fmla="*/ 60082 w 139037"/>
              <a:gd name="connsiteY5" fmla="*/ 60082 h 139039"/>
              <a:gd name="connsiteX6" fmla="*/ 9437 w 139037"/>
              <a:gd name="connsiteY6" fmla="*/ 60082 h 139039"/>
              <a:gd name="connsiteX7" fmla="*/ 0 w 139037"/>
              <a:gd name="connsiteY7" fmla="*/ 69520 h 139039"/>
              <a:gd name="connsiteX8" fmla="*/ 9437 w 139037"/>
              <a:gd name="connsiteY8" fmla="*/ 78957 h 139039"/>
              <a:gd name="connsiteX9" fmla="*/ 60082 w 139037"/>
              <a:gd name="connsiteY9" fmla="*/ 78957 h 139039"/>
              <a:gd name="connsiteX10" fmla="*/ 60082 w 139037"/>
              <a:gd name="connsiteY10" fmla="*/ 129602 h 139039"/>
              <a:gd name="connsiteX11" fmla="*/ 69519 w 139037"/>
              <a:gd name="connsiteY11" fmla="*/ 139039 h 139039"/>
              <a:gd name="connsiteX12" fmla="*/ 78955 w 139037"/>
              <a:gd name="connsiteY12" fmla="*/ 129602 h 139039"/>
              <a:gd name="connsiteX13" fmla="*/ 78955 w 139037"/>
              <a:gd name="connsiteY13" fmla="*/ 78957 h 139039"/>
              <a:gd name="connsiteX14" fmla="*/ 129600 w 139037"/>
              <a:gd name="connsiteY14" fmla="*/ 78957 h 139039"/>
              <a:gd name="connsiteX15" fmla="*/ 139037 w 139037"/>
              <a:gd name="connsiteY15" fmla="*/ 69520 h 139039"/>
              <a:gd name="connsiteX16" fmla="*/ 129600 w 139037"/>
              <a:gd name="connsiteY16" fmla="*/ 60082 h 1390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139037" h="139039">
                <a:moveTo>
                  <a:pt x="129600" y="60082"/>
                </a:moveTo>
                <a:lnTo>
                  <a:pt x="78955" y="60082"/>
                </a:lnTo>
                <a:lnTo>
                  <a:pt x="78955" y="9437"/>
                </a:lnTo>
                <a:cubicBezTo>
                  <a:pt x="78955" y="4225"/>
                  <a:pt x="74730" y="0"/>
                  <a:pt x="69519" y="0"/>
                </a:cubicBezTo>
                <a:cubicBezTo>
                  <a:pt x="64307" y="0"/>
                  <a:pt x="60082" y="4225"/>
                  <a:pt x="60082" y="9437"/>
                </a:cubicBezTo>
                <a:lnTo>
                  <a:pt x="60082" y="60082"/>
                </a:lnTo>
                <a:lnTo>
                  <a:pt x="9437" y="60082"/>
                </a:lnTo>
                <a:cubicBezTo>
                  <a:pt x="4225" y="60082"/>
                  <a:pt x="0" y="64308"/>
                  <a:pt x="0" y="69520"/>
                </a:cubicBezTo>
                <a:cubicBezTo>
                  <a:pt x="0" y="74731"/>
                  <a:pt x="4225" y="78957"/>
                  <a:pt x="9437" y="78957"/>
                </a:cubicBezTo>
                <a:lnTo>
                  <a:pt x="60082" y="78957"/>
                </a:lnTo>
                <a:lnTo>
                  <a:pt x="60082" y="129602"/>
                </a:lnTo>
                <a:cubicBezTo>
                  <a:pt x="60082" y="134814"/>
                  <a:pt x="64307" y="139039"/>
                  <a:pt x="69519" y="139039"/>
                </a:cubicBezTo>
                <a:cubicBezTo>
                  <a:pt x="74730" y="139039"/>
                  <a:pt x="78955" y="134814"/>
                  <a:pt x="78955" y="129602"/>
                </a:cubicBezTo>
                <a:lnTo>
                  <a:pt x="78955" y="78957"/>
                </a:lnTo>
                <a:lnTo>
                  <a:pt x="129600" y="78957"/>
                </a:lnTo>
                <a:cubicBezTo>
                  <a:pt x="134812" y="78957"/>
                  <a:pt x="139037" y="74731"/>
                  <a:pt x="139037" y="69520"/>
                </a:cubicBezTo>
                <a:cubicBezTo>
                  <a:pt x="139037" y="64308"/>
                  <a:pt x="134812" y="60082"/>
                  <a:pt x="129600" y="60082"/>
                </a:cubicBezTo>
                <a:close/>
              </a:path>
            </a:pathLst>
          </a:custGeom>
          <a:solidFill>
            <a:schemeClr val="bg1"/>
          </a:solidFill>
          <a:ln w="603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56020367-4FD5-4596-8E10-C5F095CD8DB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5447322" y="1589368"/>
            <a:ext cx="0" cy="5259754"/>
          </a:xfrm>
          <a:prstGeom prst="line">
            <a:avLst/>
          </a:prstGeom>
          <a:ln w="25400" cap="sq">
            <a:solidFill>
              <a:schemeClr val="bg1"/>
            </a:solidFill>
            <a:beve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6" name="Graphic 5" descr="Network Diagram">
            <a:extLst>
              <a:ext uri="{FF2B5EF4-FFF2-40B4-BE49-F238E27FC236}">
                <a16:creationId xmlns:a16="http://schemas.microsoft.com/office/drawing/2014/main" id="{57055E14-DC33-CCEF-ED72-DF71E60D2C64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380106" y="1598246"/>
            <a:ext cx="4783504" cy="4783504"/>
          </a:xfrm>
          <a:prstGeom prst="rect">
            <a:avLst/>
          </a:prstGeom>
        </p:spPr>
      </p:pic>
      <p:sp>
        <p:nvSpPr>
          <p:cNvPr id="17" name="Graphic 21">
            <a:extLst>
              <a:ext uri="{FF2B5EF4-FFF2-40B4-BE49-F238E27FC236}">
                <a16:creationId xmlns:a16="http://schemas.microsoft.com/office/drawing/2014/main" id="{8D61482F-F3C5-4D66-8C5D-C6BBE3E1275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1752801" y="1659316"/>
            <a:ext cx="127713" cy="127714"/>
          </a:xfrm>
          <a:custGeom>
            <a:avLst/>
            <a:gdLst>
              <a:gd name="connsiteX0" fmla="*/ 63857 w 127713"/>
              <a:gd name="connsiteY0" fmla="*/ 18874 h 127714"/>
              <a:gd name="connsiteX1" fmla="*/ 108839 w 127713"/>
              <a:gd name="connsiteY1" fmla="*/ 63857 h 127714"/>
              <a:gd name="connsiteX2" fmla="*/ 63857 w 127713"/>
              <a:gd name="connsiteY2" fmla="*/ 108840 h 127714"/>
              <a:gd name="connsiteX3" fmla="*/ 18874 w 127713"/>
              <a:gd name="connsiteY3" fmla="*/ 63857 h 127714"/>
              <a:gd name="connsiteX4" fmla="*/ 63857 w 127713"/>
              <a:gd name="connsiteY4" fmla="*/ 18874 h 127714"/>
              <a:gd name="connsiteX5" fmla="*/ 63857 w 127713"/>
              <a:gd name="connsiteY5" fmla="*/ 0 h 127714"/>
              <a:gd name="connsiteX6" fmla="*/ 0 w 127713"/>
              <a:gd name="connsiteY6" fmla="*/ 63857 h 127714"/>
              <a:gd name="connsiteX7" fmla="*/ 63857 w 127713"/>
              <a:gd name="connsiteY7" fmla="*/ 127714 h 127714"/>
              <a:gd name="connsiteX8" fmla="*/ 127713 w 127713"/>
              <a:gd name="connsiteY8" fmla="*/ 63857 h 127714"/>
              <a:gd name="connsiteX9" fmla="*/ 63857 w 127713"/>
              <a:gd name="connsiteY9" fmla="*/ 0 h 12771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127713" h="127714">
                <a:moveTo>
                  <a:pt x="63857" y="18874"/>
                </a:moveTo>
                <a:cubicBezTo>
                  <a:pt x="88700" y="18874"/>
                  <a:pt x="108839" y="39014"/>
                  <a:pt x="108839" y="63857"/>
                </a:cubicBezTo>
                <a:cubicBezTo>
                  <a:pt x="108839" y="88700"/>
                  <a:pt x="88700" y="108840"/>
                  <a:pt x="63857" y="108840"/>
                </a:cubicBezTo>
                <a:cubicBezTo>
                  <a:pt x="39013" y="108840"/>
                  <a:pt x="18874" y="88700"/>
                  <a:pt x="18874" y="63857"/>
                </a:cubicBezTo>
                <a:cubicBezTo>
                  <a:pt x="18898" y="39024"/>
                  <a:pt x="39023" y="18898"/>
                  <a:pt x="63857" y="18874"/>
                </a:cubicBezTo>
                <a:moveTo>
                  <a:pt x="63857" y="0"/>
                </a:moveTo>
                <a:cubicBezTo>
                  <a:pt x="28590" y="0"/>
                  <a:pt x="0" y="28590"/>
                  <a:pt x="0" y="63857"/>
                </a:cubicBezTo>
                <a:cubicBezTo>
                  <a:pt x="0" y="99124"/>
                  <a:pt x="28590" y="127714"/>
                  <a:pt x="63857" y="127714"/>
                </a:cubicBezTo>
                <a:cubicBezTo>
                  <a:pt x="99124" y="127714"/>
                  <a:pt x="127713" y="99124"/>
                  <a:pt x="127713" y="63857"/>
                </a:cubicBezTo>
                <a:cubicBezTo>
                  <a:pt x="127713" y="28590"/>
                  <a:pt x="99124" y="0"/>
                  <a:pt x="63857" y="0"/>
                </a:cubicBezTo>
                <a:close/>
              </a:path>
            </a:pathLst>
          </a:custGeom>
          <a:solidFill>
            <a:schemeClr val="bg1"/>
          </a:solidFill>
          <a:ln w="610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5694957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021BBD8-39B0-3D18-8C85-DDA97217872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0BC40985-DDAE-5BDB-BA1A-E84F0131419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250350729"/>
      </p:ext>
    </p:extLst>
  </p:cSld>
  <p:clrMapOvr>
    <a:masterClrMapping/>
  </p:clrMapOvr>
</p:sld>
</file>

<file path=ppt/theme/theme1.xml><?xml version="1.0" encoding="utf-8"?>
<a:theme xmlns:a="http://schemas.openxmlformats.org/drawingml/2006/main" name="GradientVTI">
  <a:themeElements>
    <a:clrScheme name="Tema de Office">
      <a:dk1>
        <a:srgbClr val="000000"/>
      </a:dk1>
      <a:lt1>
        <a:srgbClr val="FFFFFF"/>
      </a:lt1>
      <a:dk2>
        <a:srgbClr val="281B10"/>
      </a:dk2>
      <a:lt2>
        <a:srgbClr val="FFF9F5"/>
      </a:lt2>
      <a:accent1>
        <a:srgbClr val="EE7661"/>
      </a:accent1>
      <a:accent2>
        <a:srgbClr val="4E91F0"/>
      </a:accent2>
      <a:accent3>
        <a:srgbClr val="5B5260"/>
      </a:accent3>
      <a:accent4>
        <a:srgbClr val="2CC3B4"/>
      </a:accent4>
      <a:accent5>
        <a:srgbClr val="C097F8"/>
      </a:accent5>
      <a:accent6>
        <a:srgbClr val="FF9514"/>
      </a:accent6>
      <a:hlink>
        <a:srgbClr val="E50CBC"/>
      </a:hlink>
      <a:folHlink>
        <a:srgbClr val="6257FF"/>
      </a:folHlink>
    </a:clrScheme>
    <a:fontScheme name="Univers">
      <a:majorFont>
        <a:latin typeface="Univers"/>
        <a:ea typeface=""/>
        <a:cs typeface=""/>
      </a:majorFont>
      <a:minorFont>
        <a:latin typeface="Univers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GradientVTI" id="{605F9078-86F9-4258-A3E1-F8EFF02AE8CC}" vid="{4848699B-BB01-41E3-9EC4-3D97DFE5292B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105</TotalTime>
  <Words>278</Words>
  <Application>Microsoft Office PowerPoint</Application>
  <PresentationFormat>Panorámica</PresentationFormat>
  <Paragraphs>64</Paragraphs>
  <Slides>11</Slides>
  <Notes>1</Notes>
  <HiddenSlides>0</HiddenSlides>
  <MMClips>0</MMClips>
  <ScaleCrop>false</ScaleCrop>
  <HeadingPairs>
    <vt:vector size="4" baseType="variant">
      <vt:variant>
        <vt:lpstr>Tema</vt:lpstr>
      </vt:variant>
      <vt:variant>
        <vt:i4>1</vt:i4>
      </vt:variant>
      <vt:variant>
        <vt:lpstr>Títulos de diapositiva</vt:lpstr>
      </vt:variant>
      <vt:variant>
        <vt:i4>11</vt:i4>
      </vt:variant>
    </vt:vector>
  </HeadingPairs>
  <TitlesOfParts>
    <vt:vector size="12" baseType="lpstr">
      <vt:lpstr>GradientVTI</vt:lpstr>
      <vt:lpstr>Propuesta inicial de Proyecto Integrador DevOps </vt:lpstr>
      <vt:lpstr>Enfoque recomendado del proyecto</vt:lpstr>
      <vt:lpstr>Fase 1 — Definir el Proyecto (Inicio obligatorio)</vt:lpstr>
      <vt:lpstr>2.-Descripción del problema </vt:lpstr>
      <vt:lpstr>3.-Objetivo del sistema </vt:lpstr>
      <vt:lpstr>4.-Alcance del sistema</vt:lpstr>
      <vt:lpstr>Fase 2 — Diseño inicial del sistema</vt:lpstr>
      <vt:lpstr>Arquitectura del sistema </vt:lpstr>
      <vt:lpstr>Stack tecnológico sugerido</vt:lpstr>
      <vt:lpstr>Fase 3 — Metodología DevOps (núcleo del proyecto)</vt:lpstr>
      <vt:lpstr>Presentación de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EVA MARIA FRANCISCO SANTIAGO</dc:creator>
  <cp:lastModifiedBy>EVA MARIA FRANCISCO SANTIAGO</cp:lastModifiedBy>
  <cp:revision>4</cp:revision>
  <dcterms:created xsi:type="dcterms:W3CDTF">2026-04-13T23:47:01Z</dcterms:created>
  <dcterms:modified xsi:type="dcterms:W3CDTF">2026-05-06T23:31:01Z</dcterms:modified>
</cp:coreProperties>
</file>